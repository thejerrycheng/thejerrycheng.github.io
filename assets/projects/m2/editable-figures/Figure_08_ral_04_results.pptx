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72199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ral_04_results.pdf.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7219974"/>
          </a:xfrm>
          <a:custGeom>
            <a:avLst/>
            <a:gdLst/>
            <a:ahLst/>
            <a:cxnLst/>
            <a:rect l="l" t="t" r="r" b="b"/>
            <a:pathLst>
              <a:path w="12191999" h="7219974">
                <a:moveTo>
                  <a:pt x="0" y="0"/>
                </a:moveTo>
                <a:lnTo>
                  <a:pt x="12191999" y="0"/>
                </a:lnTo>
                <a:lnTo>
                  <a:pt x="12191999" y="7219974"/>
                </a:lnTo>
                <a:lnTo>
                  <a:pt x="0" y="72199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299627" y="1826580"/>
            <a:ext cx="3633930" cy="3953441"/>
          </a:xfrm>
          <a:custGeom>
            <a:avLst/>
            <a:gdLst/>
            <a:ahLst/>
            <a:cxnLst/>
            <a:rect l="l" t="t" r="r" b="b"/>
            <a:pathLst>
              <a:path w="3633930" h="3953441">
                <a:moveTo>
                  <a:pt x="0" y="0"/>
                </a:moveTo>
                <a:lnTo>
                  <a:pt x="3633930" y="0"/>
                </a:lnTo>
                <a:lnTo>
                  <a:pt x="3633930" y="3953441"/>
                </a:lnTo>
                <a:lnTo>
                  <a:pt x="0" y="39534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299627" y="5780021"/>
            <a:ext cx="0" cy="100345"/>
          </a:xfrm>
          <a:custGeom>
            <a:avLst/>
            <a:gdLst/>
            <a:ahLst/>
            <a:cxnLst/>
            <a:rect l="l" t="t" r="r" b="b"/>
            <a:pathLst>
              <a:path w="0" h="100345">
                <a:moveTo>
                  <a:pt x="0" y="0"/>
                </a:moveTo>
                <a:lnTo>
                  <a:pt x="0" y="100345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1825" y="5933072"/>
            <a:ext cx="263406" cy="4214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65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6" name="Editable path 4"/>
          <p:cNvSpPr/>
          <p:nvPr/>
        </p:nvSpPr>
        <p:spPr>
          <a:xfrm>
            <a:off x="3116592" y="5780021"/>
            <a:ext cx="0" cy="100345"/>
          </a:xfrm>
          <a:custGeom>
            <a:avLst/>
            <a:gdLst/>
            <a:ahLst/>
            <a:cxnLst/>
            <a:rect l="l" t="t" r="r" b="b"/>
            <a:pathLst>
              <a:path w="0" h="100345">
                <a:moveTo>
                  <a:pt x="0" y="0"/>
                </a:moveTo>
                <a:lnTo>
                  <a:pt x="0" y="100345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40988" y="5933072"/>
            <a:ext cx="439010" cy="4214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65" b="0" i="0">
                <a:solidFill>
                  <a:srgbClr val="2B2B2B"/>
                </a:solidFill>
                <a:latin typeface="Times New Roman"/>
              </a:rPr>
              <a:t>90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4933557" y="5780021"/>
            <a:ext cx="0" cy="100345"/>
          </a:xfrm>
          <a:custGeom>
            <a:avLst/>
            <a:gdLst/>
            <a:ahLst/>
            <a:cxnLst/>
            <a:rect l="l" t="t" r="r" b="b"/>
            <a:pathLst>
              <a:path w="0" h="100345">
                <a:moveTo>
                  <a:pt x="0" y="0"/>
                </a:moveTo>
                <a:lnTo>
                  <a:pt x="0" y="100345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0150" y="5933072"/>
            <a:ext cx="614614" cy="4214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65" b="0" i="0">
                <a:solidFill>
                  <a:srgbClr val="2B2B2B"/>
                </a:solidFill>
                <a:latin typeface="Times New Roman"/>
              </a:rPr>
              <a:t>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030" y="6443112"/>
            <a:ext cx="1471461" cy="481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60" b="0" i="0">
                <a:solidFill>
                  <a:srgbClr val="2B2B2B"/>
                </a:solidFill>
                <a:latin typeface="Times New Roman"/>
              </a:rPr>
              <a:t>Time (s)</a:t>
            </a:r>
          </a:p>
        </p:txBody>
      </p:sp>
      <p:sp>
        <p:nvSpPr>
          <p:cNvPr id="11" name="Editable path 6"/>
          <p:cNvSpPr/>
          <p:nvPr/>
        </p:nvSpPr>
        <p:spPr>
          <a:xfrm>
            <a:off x="1299627" y="5780021"/>
            <a:ext cx="3633930" cy="0"/>
          </a:xfrm>
          <a:custGeom>
            <a:avLst/>
            <a:gdLst/>
            <a:ahLst/>
            <a:cxnLst/>
            <a:rect l="l" t="t" r="r" b="b"/>
            <a:pathLst>
              <a:path w="3633930" h="0">
                <a:moveTo>
                  <a:pt x="0" y="0"/>
                </a:moveTo>
                <a:lnTo>
                  <a:pt x="3633930" y="0"/>
                </a:lnTo>
              </a:path>
            </a:pathLst>
          </a:custGeom>
          <a:noFill/>
          <a:ln w="2759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7"/>
          <p:cNvSpPr/>
          <p:nvPr/>
        </p:nvSpPr>
        <p:spPr>
          <a:xfrm>
            <a:off x="1199282" y="5780021"/>
            <a:ext cx="100345" cy="0"/>
          </a:xfrm>
          <a:custGeom>
            <a:avLst/>
            <a:gdLst/>
            <a:ahLst/>
            <a:cxnLst/>
            <a:rect l="l" t="t" r="r" b="b"/>
            <a:pathLst>
              <a:path w="100345" h="0">
                <a:moveTo>
                  <a:pt x="100345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332" y="5612438"/>
            <a:ext cx="263406" cy="4214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65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4" name="Editable path 8"/>
          <p:cNvSpPr/>
          <p:nvPr/>
        </p:nvSpPr>
        <p:spPr>
          <a:xfrm>
            <a:off x="1299627" y="3803300"/>
            <a:ext cx="3633930" cy="0"/>
          </a:xfrm>
          <a:custGeom>
            <a:avLst/>
            <a:gdLst/>
            <a:ahLst/>
            <a:cxnLst/>
            <a:rect l="l" t="t" r="r" b="b"/>
            <a:pathLst>
              <a:path w="3633930" h="0">
                <a:moveTo>
                  <a:pt x="0" y="0"/>
                </a:moveTo>
                <a:lnTo>
                  <a:pt x="3633930" y="0"/>
                </a:lnTo>
              </a:path>
            </a:pathLst>
          </a:custGeom>
          <a:noFill/>
          <a:ln w="2759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9"/>
          <p:cNvSpPr/>
          <p:nvPr/>
        </p:nvSpPr>
        <p:spPr>
          <a:xfrm>
            <a:off x="1199282" y="3803300"/>
            <a:ext cx="100345" cy="0"/>
          </a:xfrm>
          <a:custGeom>
            <a:avLst/>
            <a:gdLst/>
            <a:ahLst/>
            <a:cxnLst/>
            <a:rect l="l" t="t" r="r" b="b"/>
            <a:pathLst>
              <a:path w="100345" h="0">
                <a:moveTo>
                  <a:pt x="100345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332" y="3635718"/>
            <a:ext cx="263406" cy="4214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65" b="0" i="0">
                <a:solidFill>
                  <a:srgbClr val="2B2B2B"/>
                </a:solidFill>
                <a:latin typeface="Times New Roman"/>
              </a:rPr>
              <a:t>4</a:t>
            </a:r>
          </a:p>
        </p:txBody>
      </p:sp>
      <p:sp>
        <p:nvSpPr>
          <p:cNvPr id="17" name="Editable path 10"/>
          <p:cNvSpPr/>
          <p:nvPr/>
        </p:nvSpPr>
        <p:spPr>
          <a:xfrm>
            <a:off x="1299627" y="1826580"/>
            <a:ext cx="3633930" cy="0"/>
          </a:xfrm>
          <a:custGeom>
            <a:avLst/>
            <a:gdLst/>
            <a:ahLst/>
            <a:cxnLst/>
            <a:rect l="l" t="t" r="r" b="b"/>
            <a:pathLst>
              <a:path w="3633930" h="0">
                <a:moveTo>
                  <a:pt x="0" y="0"/>
                </a:moveTo>
                <a:lnTo>
                  <a:pt x="3633930" y="0"/>
                </a:lnTo>
              </a:path>
            </a:pathLst>
          </a:custGeom>
          <a:noFill/>
          <a:ln w="27594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1"/>
          <p:cNvSpPr/>
          <p:nvPr/>
        </p:nvSpPr>
        <p:spPr>
          <a:xfrm>
            <a:off x="1199282" y="1826580"/>
            <a:ext cx="100345" cy="0"/>
          </a:xfrm>
          <a:custGeom>
            <a:avLst/>
            <a:gdLst/>
            <a:ahLst/>
            <a:cxnLst/>
            <a:rect l="l" t="t" r="r" b="b"/>
            <a:pathLst>
              <a:path w="100345" h="0">
                <a:moveTo>
                  <a:pt x="100345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332" y="1658998"/>
            <a:ext cx="263406" cy="4214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65" b="0" i="0">
                <a:solidFill>
                  <a:srgbClr val="2B2B2B"/>
                </a:solidFill>
                <a:latin typeface="Times New Roman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 rot="16200000">
            <a:off x="-882067" y="3553863"/>
            <a:ext cx="2976239" cy="481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60" b="0" i="0">
                <a:solidFill>
                  <a:srgbClr val="2B2B2B"/>
                </a:solidFill>
                <a:latin typeface="Times New Roman"/>
              </a:rPr>
              <a:t>Goal distance (m)</a:t>
            </a:r>
          </a:p>
        </p:txBody>
      </p:sp>
      <p:sp>
        <p:nvSpPr>
          <p:cNvPr id="21" name="Editable path 12"/>
          <p:cNvSpPr/>
          <p:nvPr/>
        </p:nvSpPr>
        <p:spPr>
          <a:xfrm>
            <a:off x="1299627" y="2327194"/>
            <a:ext cx="3633930" cy="1067240"/>
          </a:xfrm>
          <a:custGeom>
            <a:avLst/>
            <a:gdLst/>
            <a:ahLst/>
            <a:cxnLst/>
            <a:rect l="l" t="t" r="r" b="b"/>
            <a:pathLst>
              <a:path w="3633930" h="1067240">
                <a:moveTo>
                  <a:pt x="0" y="0"/>
                </a:moveTo>
                <a:lnTo>
                  <a:pt x="199866" y="5434"/>
                </a:lnTo>
                <a:lnTo>
                  <a:pt x="228130" y="24530"/>
                </a:lnTo>
                <a:lnTo>
                  <a:pt x="448185" y="218624"/>
                </a:lnTo>
                <a:lnTo>
                  <a:pt x="512788" y="286944"/>
                </a:lnTo>
                <a:lnTo>
                  <a:pt x="555184" y="347500"/>
                </a:lnTo>
                <a:lnTo>
                  <a:pt x="597580" y="429053"/>
                </a:lnTo>
                <a:lnTo>
                  <a:pt x="652089" y="561845"/>
                </a:lnTo>
                <a:lnTo>
                  <a:pt x="785333" y="917898"/>
                </a:lnTo>
                <a:lnTo>
                  <a:pt x="845898" y="1067240"/>
                </a:lnTo>
                <a:lnTo>
                  <a:pt x="855993" y="1066731"/>
                </a:lnTo>
                <a:lnTo>
                  <a:pt x="882238" y="1062278"/>
                </a:lnTo>
                <a:lnTo>
                  <a:pt x="936747" y="1059636"/>
                </a:lnTo>
                <a:lnTo>
                  <a:pt x="2884937" y="1060851"/>
                </a:lnTo>
                <a:lnTo>
                  <a:pt x="2897050" y="1062667"/>
                </a:lnTo>
                <a:lnTo>
                  <a:pt x="2925314" y="1060443"/>
                </a:lnTo>
                <a:lnTo>
                  <a:pt x="2957616" y="1060843"/>
                </a:lnTo>
                <a:lnTo>
                  <a:pt x="3278613" y="1060864"/>
                </a:lnTo>
                <a:lnTo>
                  <a:pt x="3337159" y="1059776"/>
                </a:lnTo>
                <a:lnTo>
                  <a:pt x="3444158" y="1061497"/>
                </a:lnTo>
                <a:lnTo>
                  <a:pt x="3496648" y="1059486"/>
                </a:lnTo>
                <a:lnTo>
                  <a:pt x="3553176" y="1059188"/>
                </a:lnTo>
                <a:lnTo>
                  <a:pt x="3633930" y="1059870"/>
                </a:lnTo>
              </a:path>
            </a:pathLst>
          </a:custGeom>
          <a:noFill/>
          <a:ln w="75258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13"/>
          <p:cNvSpPr/>
          <p:nvPr/>
        </p:nvSpPr>
        <p:spPr>
          <a:xfrm>
            <a:off x="1299627" y="2327194"/>
            <a:ext cx="3633930" cy="3452686"/>
          </a:xfrm>
          <a:custGeom>
            <a:avLst/>
            <a:gdLst/>
            <a:ahLst/>
            <a:cxnLst/>
            <a:rect l="l" t="t" r="r" b="b"/>
            <a:pathLst>
              <a:path w="3633930" h="3452686">
                <a:moveTo>
                  <a:pt x="0" y="0"/>
                </a:moveTo>
                <a:lnTo>
                  <a:pt x="199866" y="5430"/>
                </a:lnTo>
                <a:lnTo>
                  <a:pt x="228130" y="24530"/>
                </a:lnTo>
                <a:lnTo>
                  <a:pt x="448185" y="218622"/>
                </a:lnTo>
                <a:lnTo>
                  <a:pt x="514807" y="288946"/>
                </a:lnTo>
                <a:lnTo>
                  <a:pt x="557203" y="350193"/>
                </a:lnTo>
                <a:lnTo>
                  <a:pt x="599599" y="432610"/>
                </a:lnTo>
                <a:lnTo>
                  <a:pt x="656127" y="571272"/>
                </a:lnTo>
                <a:lnTo>
                  <a:pt x="1215348" y="2093349"/>
                </a:lnTo>
                <a:lnTo>
                  <a:pt x="1465685" y="2763372"/>
                </a:lnTo>
                <a:lnTo>
                  <a:pt x="1524232" y="2860901"/>
                </a:lnTo>
                <a:lnTo>
                  <a:pt x="1619118" y="2992015"/>
                </a:lnTo>
                <a:lnTo>
                  <a:pt x="1772551" y="3187335"/>
                </a:lnTo>
                <a:lnTo>
                  <a:pt x="1980492" y="3432551"/>
                </a:lnTo>
                <a:lnTo>
                  <a:pt x="2010775" y="3448321"/>
                </a:lnTo>
                <a:lnTo>
                  <a:pt x="2047114" y="3452493"/>
                </a:lnTo>
                <a:lnTo>
                  <a:pt x="3518856" y="3452484"/>
                </a:lnTo>
                <a:lnTo>
                  <a:pt x="3587497" y="3452686"/>
                </a:lnTo>
                <a:lnTo>
                  <a:pt x="3633930" y="3452673"/>
                </a:lnTo>
              </a:path>
            </a:pathLst>
          </a:custGeom>
          <a:noFill/>
          <a:ln w="7525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4"/>
          <p:cNvSpPr/>
          <p:nvPr/>
        </p:nvSpPr>
        <p:spPr>
          <a:xfrm>
            <a:off x="1299627" y="1826580"/>
            <a:ext cx="0" cy="3953441"/>
          </a:xfrm>
          <a:custGeom>
            <a:avLst/>
            <a:gdLst/>
            <a:ahLst/>
            <a:cxnLst/>
            <a:rect l="l" t="t" r="r" b="b"/>
            <a:pathLst>
              <a:path w="0" h="3953441">
                <a:moveTo>
                  <a:pt x="0" y="3953441"/>
                </a:moveTo>
                <a:lnTo>
                  <a:pt x="0" y="0"/>
                </a:lnTo>
              </a:path>
            </a:pathLst>
          </a:custGeom>
          <a:noFill/>
          <a:ln w="3010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5"/>
          <p:cNvSpPr/>
          <p:nvPr/>
        </p:nvSpPr>
        <p:spPr>
          <a:xfrm>
            <a:off x="1299627" y="5780021"/>
            <a:ext cx="3633930" cy="0"/>
          </a:xfrm>
          <a:custGeom>
            <a:avLst/>
            <a:gdLst/>
            <a:ahLst/>
            <a:cxnLst/>
            <a:rect l="l" t="t" r="r" b="b"/>
            <a:pathLst>
              <a:path w="3633930" h="0">
                <a:moveTo>
                  <a:pt x="0" y="0"/>
                </a:moveTo>
                <a:lnTo>
                  <a:pt x="3633930" y="0"/>
                </a:lnTo>
              </a:path>
            </a:pathLst>
          </a:custGeom>
          <a:noFill/>
          <a:ln w="3010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6501" y="1907186"/>
            <a:ext cx="2582689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Same seed + 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2940" y="1247116"/>
            <a:ext cx="3768163" cy="481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60" b="0" i="0">
                <a:solidFill>
                  <a:srgbClr val="2B2B2B"/>
                </a:solidFill>
                <a:latin typeface="Times New Roman"/>
              </a:rPr>
              <a:t>(a) MPC stall recovery</a:t>
            </a:r>
          </a:p>
        </p:txBody>
      </p:sp>
      <p:sp>
        <p:nvSpPr>
          <p:cNvPr id="27" name="Editable path 16"/>
          <p:cNvSpPr/>
          <p:nvPr/>
        </p:nvSpPr>
        <p:spPr>
          <a:xfrm>
            <a:off x="1253361" y="617938"/>
            <a:ext cx="403388" cy="0"/>
          </a:xfrm>
          <a:custGeom>
            <a:avLst/>
            <a:gdLst/>
            <a:ahLst/>
            <a:cxnLst/>
            <a:rect l="l" t="t" r="r" b="b"/>
            <a:pathLst>
              <a:path w="403388" h="0">
                <a:moveTo>
                  <a:pt x="0" y="0"/>
                </a:moveTo>
                <a:lnTo>
                  <a:pt x="201694" y="0"/>
                </a:lnTo>
                <a:lnTo>
                  <a:pt x="403388" y="0"/>
                </a:lnTo>
              </a:path>
            </a:pathLst>
          </a:custGeom>
          <a:noFill/>
          <a:ln w="75258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23979" y="460390"/>
            <a:ext cx="1204448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Original</a:t>
            </a:r>
          </a:p>
        </p:txBody>
      </p:sp>
      <p:sp>
        <p:nvSpPr>
          <p:cNvPr id="29" name="Editable path 17"/>
          <p:cNvSpPr/>
          <p:nvPr/>
        </p:nvSpPr>
        <p:spPr>
          <a:xfrm>
            <a:off x="3054557" y="617938"/>
            <a:ext cx="403388" cy="0"/>
          </a:xfrm>
          <a:custGeom>
            <a:avLst/>
            <a:gdLst/>
            <a:ahLst/>
            <a:cxnLst/>
            <a:rect l="l" t="t" r="r" b="b"/>
            <a:pathLst>
              <a:path w="403388" h="0">
                <a:moveTo>
                  <a:pt x="0" y="0"/>
                </a:moveTo>
                <a:lnTo>
                  <a:pt x="201694" y="0"/>
                </a:lnTo>
                <a:lnTo>
                  <a:pt x="403388" y="0"/>
                </a:lnTo>
              </a:path>
            </a:pathLst>
          </a:custGeom>
          <a:noFill/>
          <a:ln w="7525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5176" y="460390"/>
            <a:ext cx="1167135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Aligned</a:t>
            </a:r>
          </a:p>
        </p:txBody>
      </p:sp>
      <p:sp>
        <p:nvSpPr>
          <p:cNvPr id="31" name="Editable path 18"/>
          <p:cNvSpPr/>
          <p:nvPr/>
        </p:nvSpPr>
        <p:spPr>
          <a:xfrm>
            <a:off x="7833433" y="1826580"/>
            <a:ext cx="3997323" cy="3953441"/>
          </a:xfrm>
          <a:custGeom>
            <a:avLst/>
            <a:gdLst/>
            <a:ahLst/>
            <a:cxnLst/>
            <a:rect l="l" t="t" r="r" b="b"/>
            <a:pathLst>
              <a:path w="3997323" h="3953441">
                <a:moveTo>
                  <a:pt x="0" y="0"/>
                </a:moveTo>
                <a:lnTo>
                  <a:pt x="3997323" y="0"/>
                </a:lnTo>
                <a:lnTo>
                  <a:pt x="3997323" y="3953441"/>
                </a:lnTo>
                <a:lnTo>
                  <a:pt x="0" y="39534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19"/>
          <p:cNvSpPr/>
          <p:nvPr/>
        </p:nvSpPr>
        <p:spPr>
          <a:xfrm>
            <a:off x="7833433" y="1826580"/>
            <a:ext cx="0" cy="3953441"/>
          </a:xfrm>
          <a:custGeom>
            <a:avLst/>
            <a:gdLst/>
            <a:ahLst/>
            <a:cxnLst/>
            <a:rect l="l" t="t" r="r" b="b"/>
            <a:pathLst>
              <a:path w="0" h="3953441">
                <a:moveTo>
                  <a:pt x="0" y="3953441"/>
                </a:moveTo>
                <a:lnTo>
                  <a:pt x="0" y="0"/>
                </a:lnTo>
              </a:path>
            </a:pathLst>
          </a:custGeom>
          <a:noFill/>
          <a:ln w="30103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0"/>
          <p:cNvSpPr/>
          <p:nvPr/>
        </p:nvSpPr>
        <p:spPr>
          <a:xfrm>
            <a:off x="7833433" y="5780021"/>
            <a:ext cx="0" cy="75258"/>
          </a:xfrm>
          <a:custGeom>
            <a:avLst/>
            <a:gdLst/>
            <a:ahLst/>
            <a:cxnLst/>
            <a:rect l="l" t="t" r="r" b="b"/>
            <a:pathLst>
              <a:path w="0" h="75258">
                <a:moveTo>
                  <a:pt x="0" y="0"/>
                </a:moveTo>
                <a:lnTo>
                  <a:pt x="0" y="75258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8767" y="5920309"/>
            <a:ext cx="252117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35" name="Editable path 21"/>
          <p:cNvSpPr/>
          <p:nvPr/>
        </p:nvSpPr>
        <p:spPr>
          <a:xfrm>
            <a:off x="9610021" y="1826580"/>
            <a:ext cx="0" cy="3953441"/>
          </a:xfrm>
          <a:custGeom>
            <a:avLst/>
            <a:gdLst/>
            <a:ahLst/>
            <a:cxnLst/>
            <a:rect l="l" t="t" r="r" b="b"/>
            <a:pathLst>
              <a:path w="0" h="3953441">
                <a:moveTo>
                  <a:pt x="0" y="3953441"/>
                </a:moveTo>
                <a:lnTo>
                  <a:pt x="0" y="0"/>
                </a:lnTo>
              </a:path>
            </a:pathLst>
          </a:custGeom>
          <a:noFill/>
          <a:ln w="30103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22"/>
          <p:cNvSpPr/>
          <p:nvPr/>
        </p:nvSpPr>
        <p:spPr>
          <a:xfrm>
            <a:off x="9610021" y="5780021"/>
            <a:ext cx="0" cy="75258"/>
          </a:xfrm>
          <a:custGeom>
            <a:avLst/>
            <a:gdLst/>
            <a:ahLst/>
            <a:cxnLst/>
            <a:rect l="l" t="t" r="r" b="b"/>
            <a:pathLst>
              <a:path w="0" h="75258">
                <a:moveTo>
                  <a:pt x="0" y="0"/>
                </a:moveTo>
                <a:lnTo>
                  <a:pt x="0" y="75258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40688" y="5920309"/>
            <a:ext cx="420196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38" name="Editable path 23"/>
          <p:cNvSpPr/>
          <p:nvPr/>
        </p:nvSpPr>
        <p:spPr>
          <a:xfrm>
            <a:off x="11386609" y="1826580"/>
            <a:ext cx="0" cy="3953441"/>
          </a:xfrm>
          <a:custGeom>
            <a:avLst/>
            <a:gdLst/>
            <a:ahLst/>
            <a:cxnLst/>
            <a:rect l="l" t="t" r="r" b="b"/>
            <a:pathLst>
              <a:path w="0" h="3953441">
                <a:moveTo>
                  <a:pt x="0" y="3953441"/>
                </a:moveTo>
                <a:lnTo>
                  <a:pt x="0" y="0"/>
                </a:lnTo>
              </a:path>
            </a:pathLst>
          </a:custGeom>
          <a:noFill/>
          <a:ln w="30103">
            <a:solidFill>
              <a:srgbClr val="DAD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4"/>
          <p:cNvSpPr/>
          <p:nvPr/>
        </p:nvSpPr>
        <p:spPr>
          <a:xfrm>
            <a:off x="11386609" y="5780021"/>
            <a:ext cx="0" cy="75258"/>
          </a:xfrm>
          <a:custGeom>
            <a:avLst/>
            <a:gdLst/>
            <a:ahLst/>
            <a:cxnLst/>
            <a:rect l="l" t="t" r="r" b="b"/>
            <a:pathLst>
              <a:path w="0" h="75258">
                <a:moveTo>
                  <a:pt x="0" y="0"/>
                </a:moveTo>
                <a:lnTo>
                  <a:pt x="0" y="75258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32610" y="5920309"/>
            <a:ext cx="588273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4853" y="6418026"/>
            <a:ext cx="2675604" cy="481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60" b="0" i="0">
                <a:solidFill>
                  <a:srgbClr val="2B2B2B"/>
                </a:solidFill>
                <a:latin typeface="Times New Roman"/>
              </a:rPr>
              <a:t>Time to goal (s)</a:t>
            </a:r>
          </a:p>
        </p:txBody>
      </p:sp>
      <p:sp>
        <p:nvSpPr>
          <p:cNvPr id="42" name="Editable path 25"/>
          <p:cNvSpPr/>
          <p:nvPr/>
        </p:nvSpPr>
        <p:spPr>
          <a:xfrm>
            <a:off x="7758174" y="2059135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54722" y="1903876"/>
            <a:ext cx="980568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Living</a:t>
            </a:r>
          </a:p>
        </p:txBody>
      </p:sp>
      <p:sp>
        <p:nvSpPr>
          <p:cNvPr id="44" name="Editable path 26"/>
          <p:cNvSpPr/>
          <p:nvPr/>
        </p:nvSpPr>
        <p:spPr>
          <a:xfrm>
            <a:off x="7758174" y="2446727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7242" y="2291468"/>
            <a:ext cx="1335212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Bedroom</a:t>
            </a:r>
          </a:p>
        </p:txBody>
      </p:sp>
      <p:sp>
        <p:nvSpPr>
          <p:cNvPr id="46" name="Editable path 27"/>
          <p:cNvSpPr/>
          <p:nvPr/>
        </p:nvSpPr>
        <p:spPr>
          <a:xfrm>
            <a:off x="7758174" y="2834320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7092" y="2679060"/>
            <a:ext cx="1017882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Dining</a:t>
            </a:r>
          </a:p>
        </p:txBody>
      </p:sp>
      <p:sp>
        <p:nvSpPr>
          <p:cNvPr id="48" name="Editable path 28"/>
          <p:cNvSpPr/>
          <p:nvPr/>
        </p:nvSpPr>
        <p:spPr>
          <a:xfrm>
            <a:off x="7758174" y="3221912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24054" y="3066652"/>
            <a:ext cx="812154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Dock</a:t>
            </a:r>
          </a:p>
        </p:txBody>
      </p:sp>
      <p:sp>
        <p:nvSpPr>
          <p:cNvPr id="50" name="Editable path 29"/>
          <p:cNvSpPr/>
          <p:nvPr/>
        </p:nvSpPr>
        <p:spPr>
          <a:xfrm>
            <a:off x="7758174" y="3609504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24054" y="3454244"/>
            <a:ext cx="812153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Crate</a:t>
            </a:r>
          </a:p>
        </p:txBody>
      </p:sp>
      <p:sp>
        <p:nvSpPr>
          <p:cNvPr id="52" name="Editable path 30"/>
          <p:cNvSpPr/>
          <p:nvPr/>
        </p:nvSpPr>
        <p:spPr>
          <a:xfrm>
            <a:off x="7758174" y="3997096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4456" y="3841837"/>
            <a:ext cx="831314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Panel</a:t>
            </a:r>
          </a:p>
        </p:txBody>
      </p:sp>
      <p:sp>
        <p:nvSpPr>
          <p:cNvPr id="54" name="Editable path 31"/>
          <p:cNvSpPr/>
          <p:nvPr/>
        </p:nvSpPr>
        <p:spPr>
          <a:xfrm>
            <a:off x="7758174" y="4384688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67610" y="4229429"/>
            <a:ext cx="868292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Beam</a:t>
            </a:r>
          </a:p>
        </p:txBody>
      </p:sp>
      <p:sp>
        <p:nvSpPr>
          <p:cNvPr id="56" name="Editable path 32"/>
          <p:cNvSpPr/>
          <p:nvPr/>
        </p:nvSpPr>
        <p:spPr>
          <a:xfrm>
            <a:off x="7758174" y="4772281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92351" y="4617021"/>
            <a:ext cx="942581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Office</a:t>
            </a:r>
          </a:p>
        </p:txBody>
      </p:sp>
      <p:sp>
        <p:nvSpPr>
          <p:cNvPr id="58" name="Editable path 33"/>
          <p:cNvSpPr/>
          <p:nvPr/>
        </p:nvSpPr>
        <p:spPr>
          <a:xfrm>
            <a:off x="7758174" y="5159873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09095" y="5004613"/>
            <a:ext cx="1521780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Apartment</a:t>
            </a:r>
          </a:p>
        </p:txBody>
      </p:sp>
      <p:sp>
        <p:nvSpPr>
          <p:cNvPr id="60" name="Editable path 34"/>
          <p:cNvSpPr/>
          <p:nvPr/>
        </p:nvSpPr>
        <p:spPr>
          <a:xfrm>
            <a:off x="7758174" y="5547465"/>
            <a:ext cx="75259" cy="0"/>
          </a:xfrm>
          <a:custGeom>
            <a:avLst/>
            <a:gdLst/>
            <a:ahLst/>
            <a:cxnLst/>
            <a:rect l="l" t="t" r="r" b="b"/>
            <a:pathLst>
              <a:path w="75259" h="0">
                <a:moveTo>
                  <a:pt x="75259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40138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9981" y="5392206"/>
            <a:ext cx="905268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Arena</a:t>
            </a:r>
          </a:p>
        </p:txBody>
      </p:sp>
      <p:sp>
        <p:nvSpPr>
          <p:cNvPr id="62" name="Editable path 35"/>
          <p:cNvSpPr/>
          <p:nvPr/>
        </p:nvSpPr>
        <p:spPr>
          <a:xfrm>
            <a:off x="7833433" y="1826580"/>
            <a:ext cx="0" cy="3953441"/>
          </a:xfrm>
          <a:custGeom>
            <a:avLst/>
            <a:gdLst/>
            <a:ahLst/>
            <a:cxnLst/>
            <a:rect l="l" t="t" r="r" b="b"/>
            <a:pathLst>
              <a:path w="0" h="3953441">
                <a:moveTo>
                  <a:pt x="0" y="3953441"/>
                </a:moveTo>
                <a:lnTo>
                  <a:pt x="0" y="0"/>
                </a:lnTo>
              </a:path>
            </a:pathLst>
          </a:custGeom>
          <a:noFill/>
          <a:ln w="3010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36"/>
          <p:cNvSpPr/>
          <p:nvPr/>
        </p:nvSpPr>
        <p:spPr>
          <a:xfrm>
            <a:off x="7833433" y="5780021"/>
            <a:ext cx="3997323" cy="0"/>
          </a:xfrm>
          <a:custGeom>
            <a:avLst/>
            <a:gdLst/>
            <a:ahLst/>
            <a:cxnLst/>
            <a:rect l="l" t="t" r="r" b="b"/>
            <a:pathLst>
              <a:path w="3997323" h="0">
                <a:moveTo>
                  <a:pt x="0" y="0"/>
                </a:moveTo>
                <a:lnTo>
                  <a:pt x="3997323" y="0"/>
                </a:lnTo>
              </a:path>
            </a:pathLst>
          </a:custGeom>
          <a:noFill/>
          <a:ln w="30103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37"/>
          <p:cNvSpPr/>
          <p:nvPr/>
        </p:nvSpPr>
        <p:spPr>
          <a:xfrm>
            <a:off x="7833433" y="1933168"/>
            <a:ext cx="169566" cy="251935"/>
          </a:xfrm>
          <a:custGeom>
            <a:avLst/>
            <a:gdLst/>
            <a:ahLst/>
            <a:cxnLst/>
            <a:rect l="l" t="t" r="r" b="b"/>
            <a:pathLst>
              <a:path w="169566" h="251935">
                <a:moveTo>
                  <a:pt x="0" y="0"/>
                </a:moveTo>
                <a:lnTo>
                  <a:pt x="169566" y="0"/>
                </a:lnTo>
                <a:lnTo>
                  <a:pt x="169566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38"/>
          <p:cNvSpPr/>
          <p:nvPr/>
        </p:nvSpPr>
        <p:spPr>
          <a:xfrm>
            <a:off x="7833433" y="2320760"/>
            <a:ext cx="265452" cy="251935"/>
          </a:xfrm>
          <a:custGeom>
            <a:avLst/>
            <a:gdLst/>
            <a:ahLst/>
            <a:cxnLst/>
            <a:rect l="l" t="t" r="r" b="b"/>
            <a:pathLst>
              <a:path w="265452" h="251935">
                <a:moveTo>
                  <a:pt x="0" y="0"/>
                </a:moveTo>
                <a:lnTo>
                  <a:pt x="265452" y="0"/>
                </a:lnTo>
                <a:lnTo>
                  <a:pt x="265452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39"/>
          <p:cNvSpPr/>
          <p:nvPr/>
        </p:nvSpPr>
        <p:spPr>
          <a:xfrm>
            <a:off x="7833433" y="2708352"/>
            <a:ext cx="187134" cy="251935"/>
          </a:xfrm>
          <a:custGeom>
            <a:avLst/>
            <a:gdLst/>
            <a:ahLst/>
            <a:cxnLst/>
            <a:rect l="l" t="t" r="r" b="b"/>
            <a:pathLst>
              <a:path w="187134" h="251935">
                <a:moveTo>
                  <a:pt x="0" y="0"/>
                </a:moveTo>
                <a:lnTo>
                  <a:pt x="187134" y="0"/>
                </a:lnTo>
                <a:lnTo>
                  <a:pt x="187134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0"/>
          <p:cNvSpPr/>
          <p:nvPr/>
        </p:nvSpPr>
        <p:spPr>
          <a:xfrm>
            <a:off x="7833433" y="3095944"/>
            <a:ext cx="188615" cy="251935"/>
          </a:xfrm>
          <a:custGeom>
            <a:avLst/>
            <a:gdLst/>
            <a:ahLst/>
            <a:cxnLst/>
            <a:rect l="l" t="t" r="r" b="b"/>
            <a:pathLst>
              <a:path w="188615" h="251935">
                <a:moveTo>
                  <a:pt x="0" y="0"/>
                </a:moveTo>
                <a:lnTo>
                  <a:pt x="188615" y="0"/>
                </a:lnTo>
                <a:lnTo>
                  <a:pt x="188615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1"/>
          <p:cNvSpPr/>
          <p:nvPr/>
        </p:nvSpPr>
        <p:spPr>
          <a:xfrm>
            <a:off x="7833433" y="3483537"/>
            <a:ext cx="195129" cy="251934"/>
          </a:xfrm>
          <a:custGeom>
            <a:avLst/>
            <a:gdLst/>
            <a:ahLst/>
            <a:cxnLst/>
            <a:rect l="l" t="t" r="r" b="b"/>
            <a:pathLst>
              <a:path w="195129" h="251934">
                <a:moveTo>
                  <a:pt x="0" y="0"/>
                </a:moveTo>
                <a:lnTo>
                  <a:pt x="195129" y="0"/>
                </a:lnTo>
                <a:lnTo>
                  <a:pt x="195129" y="251934"/>
                </a:lnTo>
                <a:lnTo>
                  <a:pt x="0" y="25193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2"/>
          <p:cNvSpPr/>
          <p:nvPr/>
        </p:nvSpPr>
        <p:spPr>
          <a:xfrm>
            <a:off x="7833433" y="3871129"/>
            <a:ext cx="253460" cy="251935"/>
          </a:xfrm>
          <a:custGeom>
            <a:avLst/>
            <a:gdLst/>
            <a:ahLst/>
            <a:cxnLst/>
            <a:rect l="l" t="t" r="r" b="b"/>
            <a:pathLst>
              <a:path w="253460" h="251935">
                <a:moveTo>
                  <a:pt x="0" y="0"/>
                </a:moveTo>
                <a:lnTo>
                  <a:pt x="253460" y="0"/>
                </a:lnTo>
                <a:lnTo>
                  <a:pt x="253460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43"/>
          <p:cNvSpPr/>
          <p:nvPr/>
        </p:nvSpPr>
        <p:spPr>
          <a:xfrm>
            <a:off x="7833433" y="4258721"/>
            <a:ext cx="385322" cy="251935"/>
          </a:xfrm>
          <a:custGeom>
            <a:avLst/>
            <a:gdLst/>
            <a:ahLst/>
            <a:cxnLst/>
            <a:rect l="l" t="t" r="r" b="b"/>
            <a:pathLst>
              <a:path w="385322" h="251935">
                <a:moveTo>
                  <a:pt x="0" y="0"/>
                </a:moveTo>
                <a:lnTo>
                  <a:pt x="385322" y="0"/>
                </a:lnTo>
                <a:lnTo>
                  <a:pt x="385322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44"/>
          <p:cNvSpPr/>
          <p:nvPr/>
        </p:nvSpPr>
        <p:spPr>
          <a:xfrm>
            <a:off x="7833433" y="4646313"/>
            <a:ext cx="183778" cy="251935"/>
          </a:xfrm>
          <a:custGeom>
            <a:avLst/>
            <a:gdLst/>
            <a:ahLst/>
            <a:cxnLst/>
            <a:rect l="l" t="t" r="r" b="b"/>
            <a:pathLst>
              <a:path w="183778" h="251935">
                <a:moveTo>
                  <a:pt x="0" y="0"/>
                </a:moveTo>
                <a:lnTo>
                  <a:pt x="183778" y="0"/>
                </a:lnTo>
                <a:lnTo>
                  <a:pt x="183778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45"/>
          <p:cNvSpPr/>
          <p:nvPr/>
        </p:nvSpPr>
        <p:spPr>
          <a:xfrm>
            <a:off x="7833433" y="5033905"/>
            <a:ext cx="255385" cy="251935"/>
          </a:xfrm>
          <a:custGeom>
            <a:avLst/>
            <a:gdLst/>
            <a:ahLst/>
            <a:cxnLst/>
            <a:rect l="l" t="t" r="r" b="b"/>
            <a:pathLst>
              <a:path w="255385" h="251935">
                <a:moveTo>
                  <a:pt x="0" y="0"/>
                </a:moveTo>
                <a:lnTo>
                  <a:pt x="255385" y="0"/>
                </a:lnTo>
                <a:lnTo>
                  <a:pt x="255385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6"/>
          <p:cNvSpPr/>
          <p:nvPr/>
        </p:nvSpPr>
        <p:spPr>
          <a:xfrm>
            <a:off x="7833433" y="5421498"/>
            <a:ext cx="245762" cy="251934"/>
          </a:xfrm>
          <a:custGeom>
            <a:avLst/>
            <a:gdLst/>
            <a:ahLst/>
            <a:cxnLst/>
            <a:rect l="l" t="t" r="r" b="b"/>
            <a:pathLst>
              <a:path w="245762" h="251934">
                <a:moveTo>
                  <a:pt x="0" y="0"/>
                </a:moveTo>
                <a:lnTo>
                  <a:pt x="245762" y="0"/>
                </a:lnTo>
                <a:lnTo>
                  <a:pt x="245762" y="251934"/>
                </a:lnTo>
                <a:lnTo>
                  <a:pt x="0" y="251934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47"/>
          <p:cNvSpPr/>
          <p:nvPr/>
        </p:nvSpPr>
        <p:spPr>
          <a:xfrm>
            <a:off x="8002999" y="1933168"/>
            <a:ext cx="108964" cy="251935"/>
          </a:xfrm>
          <a:custGeom>
            <a:avLst/>
            <a:gdLst/>
            <a:ahLst/>
            <a:cxnLst/>
            <a:rect l="l" t="t" r="r" b="b"/>
            <a:pathLst>
              <a:path w="108964" h="251935">
                <a:moveTo>
                  <a:pt x="0" y="0"/>
                </a:moveTo>
                <a:lnTo>
                  <a:pt x="108964" y="0"/>
                </a:lnTo>
                <a:lnTo>
                  <a:pt x="108964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48"/>
          <p:cNvSpPr/>
          <p:nvPr/>
        </p:nvSpPr>
        <p:spPr>
          <a:xfrm>
            <a:off x="8098885" y="2320760"/>
            <a:ext cx="82612" cy="251935"/>
          </a:xfrm>
          <a:custGeom>
            <a:avLst/>
            <a:gdLst/>
            <a:ahLst/>
            <a:cxnLst/>
            <a:rect l="l" t="t" r="r" b="b"/>
            <a:pathLst>
              <a:path w="82612" h="251935">
                <a:moveTo>
                  <a:pt x="0" y="0"/>
                </a:moveTo>
                <a:lnTo>
                  <a:pt x="82612" y="0"/>
                </a:lnTo>
                <a:lnTo>
                  <a:pt x="82612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49"/>
          <p:cNvSpPr/>
          <p:nvPr/>
        </p:nvSpPr>
        <p:spPr>
          <a:xfrm>
            <a:off x="8020567" y="2708352"/>
            <a:ext cx="102894" cy="251935"/>
          </a:xfrm>
          <a:custGeom>
            <a:avLst/>
            <a:gdLst/>
            <a:ahLst/>
            <a:cxnLst/>
            <a:rect l="l" t="t" r="r" b="b"/>
            <a:pathLst>
              <a:path w="102894" h="251935">
                <a:moveTo>
                  <a:pt x="0" y="0"/>
                </a:moveTo>
                <a:lnTo>
                  <a:pt x="102894" y="0"/>
                </a:lnTo>
                <a:lnTo>
                  <a:pt x="102894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50"/>
          <p:cNvSpPr/>
          <p:nvPr/>
        </p:nvSpPr>
        <p:spPr>
          <a:xfrm>
            <a:off x="8022048" y="3095944"/>
            <a:ext cx="108223" cy="251935"/>
          </a:xfrm>
          <a:custGeom>
            <a:avLst/>
            <a:gdLst/>
            <a:ahLst/>
            <a:cxnLst/>
            <a:rect l="l" t="t" r="r" b="b"/>
            <a:pathLst>
              <a:path w="108223" h="251935">
                <a:moveTo>
                  <a:pt x="0" y="0"/>
                </a:moveTo>
                <a:lnTo>
                  <a:pt x="108223" y="0"/>
                </a:lnTo>
                <a:lnTo>
                  <a:pt x="108223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51"/>
          <p:cNvSpPr/>
          <p:nvPr/>
        </p:nvSpPr>
        <p:spPr>
          <a:xfrm>
            <a:off x="8028562" y="3483537"/>
            <a:ext cx="97416" cy="251934"/>
          </a:xfrm>
          <a:custGeom>
            <a:avLst/>
            <a:gdLst/>
            <a:ahLst/>
            <a:cxnLst/>
            <a:rect l="l" t="t" r="r" b="b"/>
            <a:pathLst>
              <a:path w="97416" h="251934">
                <a:moveTo>
                  <a:pt x="0" y="0"/>
                </a:moveTo>
                <a:lnTo>
                  <a:pt x="97416" y="0"/>
                </a:lnTo>
                <a:lnTo>
                  <a:pt x="97416" y="251934"/>
                </a:lnTo>
                <a:lnTo>
                  <a:pt x="0" y="25193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2"/>
          <p:cNvSpPr/>
          <p:nvPr/>
        </p:nvSpPr>
        <p:spPr>
          <a:xfrm>
            <a:off x="8086893" y="3871129"/>
            <a:ext cx="91495" cy="251935"/>
          </a:xfrm>
          <a:custGeom>
            <a:avLst/>
            <a:gdLst/>
            <a:ahLst/>
            <a:cxnLst/>
            <a:rect l="l" t="t" r="r" b="b"/>
            <a:pathLst>
              <a:path w="91495" h="251935">
                <a:moveTo>
                  <a:pt x="0" y="0"/>
                </a:moveTo>
                <a:lnTo>
                  <a:pt x="91495" y="0"/>
                </a:lnTo>
                <a:lnTo>
                  <a:pt x="91495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3"/>
          <p:cNvSpPr/>
          <p:nvPr/>
        </p:nvSpPr>
        <p:spPr>
          <a:xfrm>
            <a:off x="8218755" y="4258721"/>
            <a:ext cx="78960" cy="251935"/>
          </a:xfrm>
          <a:custGeom>
            <a:avLst/>
            <a:gdLst/>
            <a:ahLst/>
            <a:cxnLst/>
            <a:rect l="l" t="t" r="r" b="b"/>
            <a:pathLst>
              <a:path w="78960" h="251935">
                <a:moveTo>
                  <a:pt x="0" y="0"/>
                </a:moveTo>
                <a:lnTo>
                  <a:pt x="78960" y="0"/>
                </a:lnTo>
                <a:lnTo>
                  <a:pt x="78960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54"/>
          <p:cNvSpPr/>
          <p:nvPr/>
        </p:nvSpPr>
        <p:spPr>
          <a:xfrm>
            <a:off x="8017211" y="4646313"/>
            <a:ext cx="100673" cy="251935"/>
          </a:xfrm>
          <a:custGeom>
            <a:avLst/>
            <a:gdLst/>
            <a:ahLst/>
            <a:cxnLst/>
            <a:rect l="l" t="t" r="r" b="b"/>
            <a:pathLst>
              <a:path w="100673" h="251935">
                <a:moveTo>
                  <a:pt x="0" y="0"/>
                </a:moveTo>
                <a:lnTo>
                  <a:pt x="100673" y="0"/>
                </a:lnTo>
                <a:lnTo>
                  <a:pt x="100673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55"/>
          <p:cNvSpPr/>
          <p:nvPr/>
        </p:nvSpPr>
        <p:spPr>
          <a:xfrm>
            <a:off x="8088818" y="5033905"/>
            <a:ext cx="85572" cy="251935"/>
          </a:xfrm>
          <a:custGeom>
            <a:avLst/>
            <a:gdLst/>
            <a:ahLst/>
            <a:cxnLst/>
            <a:rect l="l" t="t" r="r" b="b"/>
            <a:pathLst>
              <a:path w="85572" h="251935">
                <a:moveTo>
                  <a:pt x="0" y="0"/>
                </a:moveTo>
                <a:lnTo>
                  <a:pt x="85572" y="0"/>
                </a:lnTo>
                <a:lnTo>
                  <a:pt x="85572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6"/>
          <p:cNvSpPr/>
          <p:nvPr/>
        </p:nvSpPr>
        <p:spPr>
          <a:xfrm>
            <a:off x="8079195" y="5421498"/>
            <a:ext cx="85720" cy="251934"/>
          </a:xfrm>
          <a:custGeom>
            <a:avLst/>
            <a:gdLst/>
            <a:ahLst/>
            <a:cxnLst/>
            <a:rect l="l" t="t" r="r" b="b"/>
            <a:pathLst>
              <a:path w="85720" h="251934">
                <a:moveTo>
                  <a:pt x="0" y="0"/>
                </a:moveTo>
                <a:lnTo>
                  <a:pt x="85720" y="0"/>
                </a:lnTo>
                <a:lnTo>
                  <a:pt x="85720" y="251934"/>
                </a:lnTo>
                <a:lnTo>
                  <a:pt x="0" y="251934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57"/>
          <p:cNvSpPr/>
          <p:nvPr/>
        </p:nvSpPr>
        <p:spPr>
          <a:xfrm>
            <a:off x="8111963" y="1933168"/>
            <a:ext cx="2667250" cy="251935"/>
          </a:xfrm>
          <a:custGeom>
            <a:avLst/>
            <a:gdLst/>
            <a:ahLst/>
            <a:cxnLst/>
            <a:rect l="l" t="t" r="r" b="b"/>
            <a:pathLst>
              <a:path w="2667250" h="251935">
                <a:moveTo>
                  <a:pt x="0" y="0"/>
                </a:moveTo>
                <a:lnTo>
                  <a:pt x="2667250" y="0"/>
                </a:lnTo>
                <a:lnTo>
                  <a:pt x="2667250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58"/>
          <p:cNvSpPr/>
          <p:nvPr/>
        </p:nvSpPr>
        <p:spPr>
          <a:xfrm>
            <a:off x="8181497" y="2320760"/>
            <a:ext cx="2333992" cy="251935"/>
          </a:xfrm>
          <a:custGeom>
            <a:avLst/>
            <a:gdLst/>
            <a:ahLst/>
            <a:cxnLst/>
            <a:rect l="l" t="t" r="r" b="b"/>
            <a:pathLst>
              <a:path w="2333992" h="251935">
                <a:moveTo>
                  <a:pt x="0" y="0"/>
                </a:moveTo>
                <a:lnTo>
                  <a:pt x="2333992" y="0"/>
                </a:lnTo>
                <a:lnTo>
                  <a:pt x="2333992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59"/>
          <p:cNvSpPr/>
          <p:nvPr/>
        </p:nvSpPr>
        <p:spPr>
          <a:xfrm>
            <a:off x="8123461" y="2708352"/>
            <a:ext cx="2537708" cy="251935"/>
          </a:xfrm>
          <a:custGeom>
            <a:avLst/>
            <a:gdLst/>
            <a:ahLst/>
            <a:cxnLst/>
            <a:rect l="l" t="t" r="r" b="b"/>
            <a:pathLst>
              <a:path w="2537708" h="251935">
                <a:moveTo>
                  <a:pt x="0" y="0"/>
                </a:moveTo>
                <a:lnTo>
                  <a:pt x="2537708" y="0"/>
                </a:lnTo>
                <a:lnTo>
                  <a:pt x="2537708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60"/>
          <p:cNvSpPr/>
          <p:nvPr/>
        </p:nvSpPr>
        <p:spPr>
          <a:xfrm>
            <a:off x="8130271" y="3095944"/>
            <a:ext cx="2847426" cy="251935"/>
          </a:xfrm>
          <a:custGeom>
            <a:avLst/>
            <a:gdLst/>
            <a:ahLst/>
            <a:cxnLst/>
            <a:rect l="l" t="t" r="r" b="b"/>
            <a:pathLst>
              <a:path w="2847426" h="251935">
                <a:moveTo>
                  <a:pt x="0" y="0"/>
                </a:moveTo>
                <a:lnTo>
                  <a:pt x="2847426" y="0"/>
                </a:lnTo>
                <a:lnTo>
                  <a:pt x="2847426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61"/>
          <p:cNvSpPr/>
          <p:nvPr/>
        </p:nvSpPr>
        <p:spPr>
          <a:xfrm>
            <a:off x="8125978" y="3483537"/>
            <a:ext cx="2558434" cy="251934"/>
          </a:xfrm>
          <a:custGeom>
            <a:avLst/>
            <a:gdLst/>
            <a:ahLst/>
            <a:cxnLst/>
            <a:rect l="l" t="t" r="r" b="b"/>
            <a:pathLst>
              <a:path w="2558434" h="251934">
                <a:moveTo>
                  <a:pt x="0" y="0"/>
                </a:moveTo>
                <a:lnTo>
                  <a:pt x="2558434" y="0"/>
                </a:lnTo>
                <a:lnTo>
                  <a:pt x="2558434" y="251934"/>
                </a:lnTo>
                <a:lnTo>
                  <a:pt x="0" y="25193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2"/>
          <p:cNvSpPr/>
          <p:nvPr/>
        </p:nvSpPr>
        <p:spPr>
          <a:xfrm>
            <a:off x="8178388" y="3871129"/>
            <a:ext cx="2412606" cy="251935"/>
          </a:xfrm>
          <a:custGeom>
            <a:avLst/>
            <a:gdLst/>
            <a:ahLst/>
            <a:cxnLst/>
            <a:rect l="l" t="t" r="r" b="b"/>
            <a:pathLst>
              <a:path w="2412606" h="251935">
                <a:moveTo>
                  <a:pt x="0" y="0"/>
                </a:moveTo>
                <a:lnTo>
                  <a:pt x="2412606" y="0"/>
                </a:lnTo>
                <a:lnTo>
                  <a:pt x="2412606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63"/>
          <p:cNvSpPr/>
          <p:nvPr/>
        </p:nvSpPr>
        <p:spPr>
          <a:xfrm>
            <a:off x="8297715" y="4258721"/>
            <a:ext cx="3009343" cy="251935"/>
          </a:xfrm>
          <a:custGeom>
            <a:avLst/>
            <a:gdLst/>
            <a:ahLst/>
            <a:cxnLst/>
            <a:rect l="l" t="t" r="r" b="b"/>
            <a:pathLst>
              <a:path w="3009343" h="251935">
                <a:moveTo>
                  <a:pt x="0" y="0"/>
                </a:moveTo>
                <a:lnTo>
                  <a:pt x="3009343" y="0"/>
                </a:lnTo>
                <a:lnTo>
                  <a:pt x="3009343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64"/>
          <p:cNvSpPr/>
          <p:nvPr/>
        </p:nvSpPr>
        <p:spPr>
          <a:xfrm>
            <a:off x="8117884" y="4646313"/>
            <a:ext cx="2498475" cy="251935"/>
          </a:xfrm>
          <a:custGeom>
            <a:avLst/>
            <a:gdLst/>
            <a:ahLst/>
            <a:cxnLst/>
            <a:rect l="l" t="t" r="r" b="b"/>
            <a:pathLst>
              <a:path w="2498475" h="251935">
                <a:moveTo>
                  <a:pt x="0" y="0"/>
                </a:moveTo>
                <a:lnTo>
                  <a:pt x="2498475" y="0"/>
                </a:lnTo>
                <a:lnTo>
                  <a:pt x="2498475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5"/>
          <p:cNvSpPr/>
          <p:nvPr/>
        </p:nvSpPr>
        <p:spPr>
          <a:xfrm>
            <a:off x="8174390" y="5033905"/>
            <a:ext cx="2372485" cy="251935"/>
          </a:xfrm>
          <a:custGeom>
            <a:avLst/>
            <a:gdLst/>
            <a:ahLst/>
            <a:cxnLst/>
            <a:rect l="l" t="t" r="r" b="b"/>
            <a:pathLst>
              <a:path w="2372485" h="251935">
                <a:moveTo>
                  <a:pt x="0" y="0"/>
                </a:moveTo>
                <a:lnTo>
                  <a:pt x="2372485" y="0"/>
                </a:lnTo>
                <a:lnTo>
                  <a:pt x="2372485" y="251935"/>
                </a:lnTo>
                <a:lnTo>
                  <a:pt x="0" y="251935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Editable path 66"/>
          <p:cNvSpPr/>
          <p:nvPr/>
        </p:nvSpPr>
        <p:spPr>
          <a:xfrm>
            <a:off x="8164915" y="5421498"/>
            <a:ext cx="858388" cy="251934"/>
          </a:xfrm>
          <a:custGeom>
            <a:avLst/>
            <a:gdLst/>
            <a:ahLst/>
            <a:cxnLst/>
            <a:rect l="l" t="t" r="r" b="b"/>
            <a:pathLst>
              <a:path w="858388" h="251934">
                <a:moveTo>
                  <a:pt x="0" y="0"/>
                </a:moveTo>
                <a:lnTo>
                  <a:pt x="858388" y="0"/>
                </a:lnTo>
                <a:lnTo>
                  <a:pt x="858388" y="251934"/>
                </a:lnTo>
                <a:lnTo>
                  <a:pt x="0" y="251934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898489" y="1247116"/>
            <a:ext cx="3969254" cy="4816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160" b="0" i="0">
                <a:solidFill>
                  <a:srgbClr val="2B2B2B"/>
                </a:solidFill>
                <a:latin typeface="Times New Roman"/>
              </a:rPr>
              <a:t>(b) Mission time budget</a:t>
            </a:r>
          </a:p>
        </p:txBody>
      </p:sp>
      <p:sp>
        <p:nvSpPr>
          <p:cNvPr id="95" name="Editable path 67"/>
          <p:cNvSpPr/>
          <p:nvPr/>
        </p:nvSpPr>
        <p:spPr>
          <a:xfrm>
            <a:off x="7872385" y="501068"/>
            <a:ext cx="235309" cy="235309"/>
          </a:xfrm>
          <a:custGeom>
            <a:avLst/>
            <a:gdLst/>
            <a:ahLst/>
            <a:cxnLst/>
            <a:rect l="l" t="t" r="r" b="b"/>
            <a:pathLst>
              <a:path w="235309" h="235309">
                <a:moveTo>
                  <a:pt x="0" y="0"/>
                </a:moveTo>
                <a:lnTo>
                  <a:pt x="235309" y="0"/>
                </a:lnTo>
                <a:lnTo>
                  <a:pt x="235309" y="235309"/>
                </a:lnTo>
                <a:lnTo>
                  <a:pt x="0" y="235309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74925" y="461174"/>
            <a:ext cx="1166798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Acquire</a:t>
            </a:r>
          </a:p>
        </p:txBody>
      </p:sp>
      <p:sp>
        <p:nvSpPr>
          <p:cNvPr id="97" name="Editable path 68"/>
          <p:cNvSpPr/>
          <p:nvPr/>
        </p:nvSpPr>
        <p:spPr>
          <a:xfrm>
            <a:off x="9417450" y="501068"/>
            <a:ext cx="235310" cy="235309"/>
          </a:xfrm>
          <a:custGeom>
            <a:avLst/>
            <a:gdLst/>
            <a:ahLst/>
            <a:cxnLst/>
            <a:rect l="l" t="t" r="r" b="b"/>
            <a:pathLst>
              <a:path w="235310" h="235309">
                <a:moveTo>
                  <a:pt x="0" y="0"/>
                </a:moveTo>
                <a:lnTo>
                  <a:pt x="235310" y="0"/>
                </a:lnTo>
                <a:lnTo>
                  <a:pt x="235310" y="235309"/>
                </a:lnTo>
                <a:lnTo>
                  <a:pt x="0" y="235309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719990" y="461174"/>
            <a:ext cx="588273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Lift</a:t>
            </a:r>
          </a:p>
        </p:txBody>
      </p:sp>
      <p:sp>
        <p:nvSpPr>
          <p:cNvPr id="99" name="Editable path 69"/>
          <p:cNvSpPr/>
          <p:nvPr/>
        </p:nvSpPr>
        <p:spPr>
          <a:xfrm>
            <a:off x="10379259" y="501068"/>
            <a:ext cx="235309" cy="235309"/>
          </a:xfrm>
          <a:custGeom>
            <a:avLst/>
            <a:gdLst/>
            <a:ahLst/>
            <a:cxnLst/>
            <a:rect l="l" t="t" r="r" b="b"/>
            <a:pathLst>
              <a:path w="235309" h="235309">
                <a:moveTo>
                  <a:pt x="0" y="0"/>
                </a:moveTo>
                <a:lnTo>
                  <a:pt x="235309" y="0"/>
                </a:lnTo>
                <a:lnTo>
                  <a:pt x="235309" y="235309"/>
                </a:lnTo>
                <a:lnTo>
                  <a:pt x="0" y="235309"/>
                </a:lnTo>
                <a:lnTo>
                  <a:pt x="0" y="0"/>
                </a:lnTo>
                <a:close/>
              </a:path>
            </a:pathLst>
          </a:custGeom>
          <a:solidFill>
            <a:srgbClr val="FF9500"/>
          </a:solidFill>
          <a:ln w="12543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681799" y="461174"/>
            <a:ext cx="868291" cy="4033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646" b="0" i="0">
                <a:solidFill>
                  <a:srgbClr val="2B2B2B"/>
                </a:solidFill>
                <a:latin typeface="Times New Roman"/>
              </a:rPr>
              <a:t>Move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