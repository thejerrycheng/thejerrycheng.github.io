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53219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ral_03_arrival.pdf.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6532191"/>
          </a:xfrm>
          <a:custGeom>
            <a:avLst/>
            <a:gdLst/>
            <a:ahLst/>
            <a:cxnLst/>
            <a:rect l="l" t="t" r="r" b="b"/>
            <a:pathLst>
              <a:path w="12191999" h="6532191">
                <a:moveTo>
                  <a:pt x="0" y="0"/>
                </a:moveTo>
                <a:lnTo>
                  <a:pt x="12191999" y="0"/>
                </a:lnTo>
                <a:lnTo>
                  <a:pt x="12191999" y="6532191"/>
                </a:lnTo>
                <a:lnTo>
                  <a:pt x="0" y="6532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618062" y="1617085"/>
            <a:ext cx="3838642" cy="3503641"/>
          </a:xfrm>
          <a:custGeom>
            <a:avLst/>
            <a:gdLst/>
            <a:ahLst/>
            <a:cxnLst/>
            <a:rect l="l" t="t" r="r" b="b"/>
            <a:pathLst>
              <a:path w="3838642" h="3503641">
                <a:moveTo>
                  <a:pt x="0" y="0"/>
                </a:moveTo>
                <a:lnTo>
                  <a:pt x="3838642" y="0"/>
                </a:lnTo>
                <a:lnTo>
                  <a:pt x="3838642" y="3503641"/>
                </a:lnTo>
                <a:lnTo>
                  <a:pt x="0" y="3503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2042571" y="1617085"/>
            <a:ext cx="2005126" cy="3503641"/>
          </a:xfrm>
          <a:custGeom>
            <a:avLst/>
            <a:gdLst/>
            <a:ahLst/>
            <a:cxnLst/>
            <a:rect l="l" t="t" r="r" b="b"/>
            <a:pathLst>
              <a:path w="2005126" h="3503641">
                <a:moveTo>
                  <a:pt x="0" y="0"/>
                </a:moveTo>
                <a:lnTo>
                  <a:pt x="2005126" y="0"/>
                </a:lnTo>
                <a:lnTo>
                  <a:pt x="2005126" y="3503641"/>
                </a:lnTo>
                <a:lnTo>
                  <a:pt x="0" y="350364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9153">
            <a:solidFill>
              <a:srgbClr val="FFF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1618062" y="5120726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32044" y="5270668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3424482" y="5120726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8464" y="5270668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8</a:t>
            </a:r>
          </a:p>
        </p:txBody>
      </p:sp>
      <p:sp>
        <p:nvSpPr>
          <p:cNvPr id="9" name="Editable path 6"/>
          <p:cNvSpPr/>
          <p:nvPr/>
        </p:nvSpPr>
        <p:spPr>
          <a:xfrm>
            <a:off x="5230902" y="5120726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8865" y="5270668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5750" y="5770345"/>
            <a:ext cx="1441565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2" name="Editable path 7"/>
          <p:cNvSpPr/>
          <p:nvPr/>
        </p:nvSpPr>
        <p:spPr>
          <a:xfrm>
            <a:off x="1618062" y="4999911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path 8"/>
          <p:cNvSpPr/>
          <p:nvPr/>
        </p:nvSpPr>
        <p:spPr>
          <a:xfrm>
            <a:off x="1519756" y="4999911"/>
            <a:ext cx="98306" cy="0"/>
          </a:xfrm>
          <a:custGeom>
            <a:avLst/>
            <a:gdLst/>
            <a:ahLst/>
            <a:cxnLst/>
            <a:rect l="l" t="t" r="r" b="b"/>
            <a:pathLst>
              <a:path w="98306" h="0">
                <a:moveTo>
                  <a:pt x="9830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9413" y="4835733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" name="Editable path 9"/>
          <p:cNvSpPr/>
          <p:nvPr/>
        </p:nvSpPr>
        <p:spPr>
          <a:xfrm>
            <a:off x="1618062" y="4033389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path 10"/>
          <p:cNvSpPr/>
          <p:nvPr/>
        </p:nvSpPr>
        <p:spPr>
          <a:xfrm>
            <a:off x="1519756" y="4033389"/>
            <a:ext cx="98306" cy="0"/>
          </a:xfrm>
          <a:custGeom>
            <a:avLst/>
            <a:gdLst/>
            <a:ahLst/>
            <a:cxnLst/>
            <a:rect l="l" t="t" r="r" b="b"/>
            <a:pathLst>
              <a:path w="98306" h="0">
                <a:moveTo>
                  <a:pt x="9830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7377" y="3869212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8" name="Editable path 11"/>
          <p:cNvSpPr/>
          <p:nvPr/>
        </p:nvSpPr>
        <p:spPr>
          <a:xfrm>
            <a:off x="1618062" y="2100346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2"/>
          <p:cNvSpPr/>
          <p:nvPr/>
        </p:nvSpPr>
        <p:spPr>
          <a:xfrm>
            <a:off x="1519756" y="2100346"/>
            <a:ext cx="98306" cy="0"/>
          </a:xfrm>
          <a:custGeom>
            <a:avLst/>
            <a:gdLst/>
            <a:ahLst/>
            <a:cxnLst/>
            <a:rect l="l" t="t" r="r" b="b"/>
            <a:pathLst>
              <a:path w="98306" h="0">
                <a:moveTo>
                  <a:pt x="9830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340" y="1936169"/>
            <a:ext cx="602126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-798673" y="3124727"/>
            <a:ext cx="2784824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Object rise (mm)</a:t>
            </a:r>
          </a:p>
        </p:txBody>
      </p:sp>
      <p:sp>
        <p:nvSpPr>
          <p:cNvPr id="22" name="Editable path 13"/>
          <p:cNvSpPr/>
          <p:nvPr/>
        </p:nvSpPr>
        <p:spPr>
          <a:xfrm>
            <a:off x="3351363" y="1617085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34407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4"/>
          <p:cNvSpPr/>
          <p:nvPr/>
        </p:nvSpPr>
        <p:spPr>
          <a:xfrm>
            <a:off x="4047697" y="1617085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34407">
            <a:solidFill>
              <a:srgbClr val="3A9A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5"/>
          <p:cNvSpPr/>
          <p:nvPr/>
        </p:nvSpPr>
        <p:spPr>
          <a:xfrm>
            <a:off x="1618062" y="2287794"/>
            <a:ext cx="3843158" cy="2712117"/>
          </a:xfrm>
          <a:custGeom>
            <a:avLst/>
            <a:gdLst/>
            <a:ahLst/>
            <a:cxnLst/>
            <a:rect l="l" t="t" r="r" b="b"/>
            <a:pathLst>
              <a:path w="3843158" h="2712117">
                <a:moveTo>
                  <a:pt x="0" y="2712117"/>
                </a:moveTo>
                <a:lnTo>
                  <a:pt x="456121" y="2710598"/>
                </a:lnTo>
                <a:lnTo>
                  <a:pt x="474186" y="2687136"/>
                </a:lnTo>
                <a:lnTo>
                  <a:pt x="587087" y="2510389"/>
                </a:lnTo>
                <a:lnTo>
                  <a:pt x="745148" y="2278044"/>
                </a:lnTo>
                <a:lnTo>
                  <a:pt x="830953" y="2175743"/>
                </a:lnTo>
                <a:lnTo>
                  <a:pt x="939339" y="2069760"/>
                </a:lnTo>
                <a:lnTo>
                  <a:pt x="1029660" y="1996104"/>
                </a:lnTo>
                <a:lnTo>
                  <a:pt x="1133529" y="1930142"/>
                </a:lnTo>
                <a:lnTo>
                  <a:pt x="1259978" y="1867121"/>
                </a:lnTo>
                <a:lnTo>
                  <a:pt x="1377395" y="1822655"/>
                </a:lnTo>
                <a:lnTo>
                  <a:pt x="1544489" y="1779061"/>
                </a:lnTo>
                <a:lnTo>
                  <a:pt x="1774808" y="1742252"/>
                </a:lnTo>
                <a:lnTo>
                  <a:pt x="1937385" y="1742456"/>
                </a:lnTo>
                <a:lnTo>
                  <a:pt x="2429635" y="1747784"/>
                </a:lnTo>
                <a:lnTo>
                  <a:pt x="2443183" y="1751618"/>
                </a:lnTo>
                <a:lnTo>
                  <a:pt x="2452215" y="1732244"/>
                </a:lnTo>
                <a:lnTo>
                  <a:pt x="2560601" y="1396242"/>
                </a:lnTo>
                <a:lnTo>
                  <a:pt x="2650921" y="1100445"/>
                </a:lnTo>
                <a:lnTo>
                  <a:pt x="2854143" y="470281"/>
                </a:lnTo>
                <a:lnTo>
                  <a:pt x="2962529" y="215715"/>
                </a:lnTo>
                <a:lnTo>
                  <a:pt x="3003173" y="140526"/>
                </a:lnTo>
                <a:lnTo>
                  <a:pt x="3039302" y="70526"/>
                </a:lnTo>
                <a:lnTo>
                  <a:pt x="3048334" y="51458"/>
                </a:lnTo>
                <a:lnTo>
                  <a:pt x="3052850" y="51653"/>
                </a:lnTo>
                <a:lnTo>
                  <a:pt x="3061882" y="41780"/>
                </a:lnTo>
                <a:lnTo>
                  <a:pt x="3098010" y="36291"/>
                </a:lnTo>
                <a:lnTo>
                  <a:pt x="3116074" y="32207"/>
                </a:lnTo>
                <a:lnTo>
                  <a:pt x="3314780" y="27061"/>
                </a:lnTo>
                <a:lnTo>
                  <a:pt x="3337361" y="26374"/>
                </a:lnTo>
                <a:lnTo>
                  <a:pt x="3368973" y="24030"/>
                </a:lnTo>
                <a:lnTo>
                  <a:pt x="3382521" y="24316"/>
                </a:lnTo>
                <a:lnTo>
                  <a:pt x="3396070" y="23852"/>
                </a:lnTo>
                <a:lnTo>
                  <a:pt x="3441230" y="20630"/>
                </a:lnTo>
                <a:lnTo>
                  <a:pt x="3477359" y="18715"/>
                </a:lnTo>
                <a:lnTo>
                  <a:pt x="3540583" y="16124"/>
                </a:lnTo>
                <a:lnTo>
                  <a:pt x="3784450" y="3416"/>
                </a:lnTo>
                <a:lnTo>
                  <a:pt x="3820578" y="1017"/>
                </a:lnTo>
                <a:lnTo>
                  <a:pt x="3843158" y="0"/>
                </a:lnTo>
              </a:path>
            </a:pathLst>
          </a:custGeom>
          <a:noFill/>
          <a:ln w="7372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6"/>
          <p:cNvSpPr/>
          <p:nvPr/>
        </p:nvSpPr>
        <p:spPr>
          <a:xfrm>
            <a:off x="2042571" y="4033389"/>
            <a:ext cx="2005126" cy="0"/>
          </a:xfrm>
          <a:custGeom>
            <a:avLst/>
            <a:gdLst/>
            <a:ahLst/>
            <a:cxnLst/>
            <a:rect l="l" t="t" r="r" b="b"/>
            <a:pathLst>
              <a:path w="2005126" h="0">
                <a:moveTo>
                  <a:pt x="0" y="0"/>
                </a:moveTo>
                <a:lnTo>
                  <a:pt x="2005126" y="0"/>
                </a:lnTo>
              </a:path>
            </a:pathLst>
          </a:custGeom>
          <a:noFill/>
          <a:ln w="36864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7"/>
          <p:cNvSpPr/>
          <p:nvPr/>
        </p:nvSpPr>
        <p:spPr>
          <a:xfrm>
            <a:off x="4047697" y="2100346"/>
            <a:ext cx="1409007" cy="0"/>
          </a:xfrm>
          <a:custGeom>
            <a:avLst/>
            <a:gdLst/>
            <a:ahLst/>
            <a:cxnLst/>
            <a:rect l="l" t="t" r="r" b="b"/>
            <a:pathLst>
              <a:path w="1409007" h="0">
                <a:moveTo>
                  <a:pt x="0" y="0"/>
                </a:moveTo>
                <a:lnTo>
                  <a:pt x="1409007" y="0"/>
                </a:lnTo>
              </a:path>
            </a:pathLst>
          </a:custGeom>
          <a:noFill/>
          <a:ln w="36864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8"/>
          <p:cNvSpPr/>
          <p:nvPr/>
        </p:nvSpPr>
        <p:spPr>
          <a:xfrm>
            <a:off x="1618062" y="1617085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9"/>
          <p:cNvSpPr/>
          <p:nvPr/>
        </p:nvSpPr>
        <p:spPr>
          <a:xfrm>
            <a:off x="1618062" y="5120726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39293" y="1049394"/>
            <a:ext cx="3494596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(a) Bounded early lift</a:t>
            </a:r>
          </a:p>
        </p:txBody>
      </p:sp>
      <p:sp>
        <p:nvSpPr>
          <p:cNvPr id="30" name="Editable path 20"/>
          <p:cNvSpPr/>
          <p:nvPr/>
        </p:nvSpPr>
        <p:spPr>
          <a:xfrm>
            <a:off x="7913436" y="1617085"/>
            <a:ext cx="3838641" cy="3503641"/>
          </a:xfrm>
          <a:custGeom>
            <a:avLst/>
            <a:gdLst/>
            <a:ahLst/>
            <a:cxnLst/>
            <a:rect l="l" t="t" r="r" b="b"/>
            <a:pathLst>
              <a:path w="3838641" h="3503641">
                <a:moveTo>
                  <a:pt x="0" y="0"/>
                </a:moveTo>
                <a:lnTo>
                  <a:pt x="3838641" y="0"/>
                </a:lnTo>
                <a:lnTo>
                  <a:pt x="3838641" y="3503641"/>
                </a:lnTo>
                <a:lnTo>
                  <a:pt x="0" y="3503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1"/>
          <p:cNvSpPr/>
          <p:nvPr/>
        </p:nvSpPr>
        <p:spPr>
          <a:xfrm>
            <a:off x="7913436" y="5120726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7417" y="5270668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3" name="Editable path 22"/>
          <p:cNvSpPr/>
          <p:nvPr/>
        </p:nvSpPr>
        <p:spPr>
          <a:xfrm>
            <a:off x="9832757" y="5120726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6737" y="5270668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35" name="Editable path 23"/>
          <p:cNvSpPr/>
          <p:nvPr/>
        </p:nvSpPr>
        <p:spPr>
          <a:xfrm>
            <a:off x="11752077" y="5120726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66058" y="5270668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3457" y="5770345"/>
            <a:ext cx="2937789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Activation gap (s)</a:t>
            </a:r>
          </a:p>
        </p:txBody>
      </p:sp>
      <p:sp>
        <p:nvSpPr>
          <p:cNvPr id="38" name="Editable path 24"/>
          <p:cNvSpPr/>
          <p:nvPr/>
        </p:nvSpPr>
        <p:spPr>
          <a:xfrm>
            <a:off x="7913436" y="5120726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5"/>
          <p:cNvSpPr/>
          <p:nvPr/>
        </p:nvSpPr>
        <p:spPr>
          <a:xfrm>
            <a:off x="7815129" y="5120726"/>
            <a:ext cx="98307" cy="0"/>
          </a:xfrm>
          <a:custGeom>
            <a:avLst/>
            <a:gdLst/>
            <a:ahLst/>
            <a:cxnLst/>
            <a:rect l="l" t="t" r="r" b="b"/>
            <a:pathLst>
              <a:path w="98307" h="0">
                <a:moveTo>
                  <a:pt x="9830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4786" y="4956549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1" name="Editable path 26"/>
          <p:cNvSpPr/>
          <p:nvPr/>
        </p:nvSpPr>
        <p:spPr>
          <a:xfrm>
            <a:off x="7913436" y="3368906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7"/>
          <p:cNvSpPr/>
          <p:nvPr/>
        </p:nvSpPr>
        <p:spPr>
          <a:xfrm>
            <a:off x="7815129" y="3368906"/>
            <a:ext cx="98307" cy="0"/>
          </a:xfrm>
          <a:custGeom>
            <a:avLst/>
            <a:gdLst/>
            <a:ahLst/>
            <a:cxnLst/>
            <a:rect l="l" t="t" r="r" b="b"/>
            <a:pathLst>
              <a:path w="98307" h="0">
                <a:moveTo>
                  <a:pt x="9830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2750" y="3204728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44" name="Editable path 28"/>
          <p:cNvSpPr/>
          <p:nvPr/>
        </p:nvSpPr>
        <p:spPr>
          <a:xfrm>
            <a:off x="7913436" y="1617085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29"/>
          <p:cNvSpPr/>
          <p:nvPr/>
        </p:nvSpPr>
        <p:spPr>
          <a:xfrm>
            <a:off x="7815129" y="1617085"/>
            <a:ext cx="98307" cy="0"/>
          </a:xfrm>
          <a:custGeom>
            <a:avLst/>
            <a:gdLst/>
            <a:ahLst/>
            <a:cxnLst/>
            <a:rect l="l" t="t" r="r" b="b"/>
            <a:pathLst>
              <a:path w="98307" h="0">
                <a:moveTo>
                  <a:pt x="9830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2750" y="1452908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 rot="16200000">
            <a:off x="5669503" y="3124727"/>
            <a:ext cx="2784824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Both attached (s)</a:t>
            </a:r>
          </a:p>
        </p:txBody>
      </p:sp>
      <p:sp>
        <p:nvSpPr>
          <p:cNvPr id="48" name="Editable path 30"/>
          <p:cNvSpPr/>
          <p:nvPr/>
        </p:nvSpPr>
        <p:spPr>
          <a:xfrm>
            <a:off x="7913436" y="3719269"/>
            <a:ext cx="3838641" cy="1401457"/>
          </a:xfrm>
          <a:custGeom>
            <a:avLst/>
            <a:gdLst/>
            <a:ahLst/>
            <a:cxnLst/>
            <a:rect l="l" t="t" r="r" b="b"/>
            <a:pathLst>
              <a:path w="3838641" h="1401457">
                <a:moveTo>
                  <a:pt x="0" y="1401457"/>
                </a:moveTo>
                <a:lnTo>
                  <a:pt x="3838641" y="0"/>
                </a:lnTo>
              </a:path>
            </a:pathLst>
          </a:custGeom>
          <a:noFill/>
          <a:ln w="29491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31"/>
          <p:cNvSpPr/>
          <p:nvPr/>
        </p:nvSpPr>
        <p:spPr>
          <a:xfrm>
            <a:off x="7913436" y="1617085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32"/>
          <p:cNvSpPr/>
          <p:nvPr/>
        </p:nvSpPr>
        <p:spPr>
          <a:xfrm>
            <a:off x="7913436" y="5120726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3"/>
          <p:cNvSpPr/>
          <p:nvPr/>
        </p:nvSpPr>
        <p:spPr>
          <a:xfrm>
            <a:off x="8325176" y="4212356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7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1"/>
                </a:lnTo>
                <a:lnTo>
                  <a:pt x="112704" y="6204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6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8" y="706"/>
                </a:lnTo>
                <a:lnTo>
                  <a:pt x="65535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4"/>
                </a:lnTo>
                <a:lnTo>
                  <a:pt x="45489" y="8391"/>
                </a:lnTo>
                <a:lnTo>
                  <a:pt x="40807" y="10890"/>
                </a:lnTo>
                <a:lnTo>
                  <a:pt x="36288" y="13695"/>
                </a:lnTo>
                <a:lnTo>
                  <a:pt x="31950" y="16797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5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4"/>
          <p:cNvSpPr/>
          <p:nvPr/>
        </p:nvSpPr>
        <p:spPr>
          <a:xfrm>
            <a:off x="8022116" y="4236881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5"/>
          <p:cNvSpPr/>
          <p:nvPr/>
        </p:nvSpPr>
        <p:spPr>
          <a:xfrm>
            <a:off x="10079344" y="3658780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7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7"/>
                </a:lnTo>
                <a:lnTo>
                  <a:pt x="146225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5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5" y="31950"/>
                </a:lnTo>
                <a:lnTo>
                  <a:pt x="142829" y="27807"/>
                </a:lnTo>
                <a:lnTo>
                  <a:pt x="139149" y="23874"/>
                </a:lnTo>
                <a:lnTo>
                  <a:pt x="135216" y="20194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4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8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7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6"/>
          <p:cNvSpPr/>
          <p:nvPr/>
        </p:nvSpPr>
        <p:spPr>
          <a:xfrm>
            <a:off x="11220017" y="3287395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5" y="131072"/>
                </a:lnTo>
                <a:lnTo>
                  <a:pt x="149327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7" y="36288"/>
                </a:lnTo>
                <a:lnTo>
                  <a:pt x="146225" y="31949"/>
                </a:lnTo>
                <a:lnTo>
                  <a:pt x="142829" y="27806"/>
                </a:lnTo>
                <a:lnTo>
                  <a:pt x="139149" y="23873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1"/>
                </a:lnTo>
                <a:lnTo>
                  <a:pt x="112704" y="6204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6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6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4"/>
                </a:lnTo>
                <a:lnTo>
                  <a:pt x="45489" y="8391"/>
                </a:lnTo>
                <a:lnTo>
                  <a:pt x="40807" y="10890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37"/>
          <p:cNvSpPr/>
          <p:nvPr/>
        </p:nvSpPr>
        <p:spPr>
          <a:xfrm>
            <a:off x="9483399" y="3795423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4" y="131072"/>
                </a:lnTo>
                <a:lnTo>
                  <a:pt x="149327" y="126734"/>
                </a:lnTo>
                <a:lnTo>
                  <a:pt x="152132" y="122215"/>
                </a:lnTo>
                <a:lnTo>
                  <a:pt x="154630" y="117533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2" y="40806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9" y="23873"/>
                </a:lnTo>
                <a:lnTo>
                  <a:pt x="135216" y="20193"/>
                </a:lnTo>
                <a:lnTo>
                  <a:pt x="131073" y="16797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1"/>
                </a:lnTo>
                <a:lnTo>
                  <a:pt x="112704" y="6204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6"/>
                </a:lnTo>
                <a:lnTo>
                  <a:pt x="86894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6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4"/>
                </a:lnTo>
                <a:lnTo>
                  <a:pt x="45488" y="8391"/>
                </a:lnTo>
                <a:lnTo>
                  <a:pt x="40806" y="10890"/>
                </a:lnTo>
                <a:lnTo>
                  <a:pt x="36288" y="13695"/>
                </a:lnTo>
                <a:lnTo>
                  <a:pt x="31949" y="16797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38"/>
          <p:cNvSpPr/>
          <p:nvPr/>
        </p:nvSpPr>
        <p:spPr>
          <a:xfrm>
            <a:off x="9897792" y="3700824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9"/>
          <p:cNvSpPr/>
          <p:nvPr/>
        </p:nvSpPr>
        <p:spPr>
          <a:xfrm>
            <a:off x="10656717" y="3091191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5"/>
                </a:lnTo>
                <a:lnTo>
                  <a:pt x="92225" y="162315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8" y="707"/>
                </a:lnTo>
                <a:lnTo>
                  <a:pt x="65535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2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5"/>
                </a:lnTo>
                <a:lnTo>
                  <a:pt x="76128" y="162845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40"/>
          <p:cNvSpPr/>
          <p:nvPr/>
        </p:nvSpPr>
        <p:spPr>
          <a:xfrm>
            <a:off x="8745937" y="4156298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8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8" y="1580"/>
                </a:lnTo>
                <a:lnTo>
                  <a:pt x="92225" y="707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8" y="707"/>
                </a:lnTo>
                <a:lnTo>
                  <a:pt x="65535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0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5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41"/>
          <p:cNvSpPr/>
          <p:nvPr/>
        </p:nvSpPr>
        <p:spPr>
          <a:xfrm>
            <a:off x="11509609" y="2993089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5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2" y="40807"/>
                </a:lnTo>
                <a:lnTo>
                  <a:pt x="149327" y="36288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4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7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2"/>
          <p:cNvSpPr/>
          <p:nvPr/>
        </p:nvSpPr>
        <p:spPr>
          <a:xfrm>
            <a:off x="8193481" y="4422574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43"/>
          <p:cNvSpPr/>
          <p:nvPr/>
        </p:nvSpPr>
        <p:spPr>
          <a:xfrm>
            <a:off x="8348652" y="4156297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2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8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29" y="102665"/>
                </a:lnTo>
                <a:lnTo>
                  <a:pt x="161441" y="97487"/>
                </a:lnTo>
                <a:lnTo>
                  <a:pt x="162315" y="92225"/>
                </a:lnTo>
                <a:lnTo>
                  <a:pt x="162844" y="86895"/>
                </a:lnTo>
                <a:lnTo>
                  <a:pt x="163022" y="81512"/>
                </a:lnTo>
                <a:lnTo>
                  <a:pt x="162844" y="76128"/>
                </a:lnTo>
                <a:lnTo>
                  <a:pt x="162315" y="70798"/>
                </a:lnTo>
                <a:lnTo>
                  <a:pt x="161441" y="65536"/>
                </a:lnTo>
                <a:lnTo>
                  <a:pt x="160229" y="60358"/>
                </a:lnTo>
                <a:lnTo>
                  <a:pt x="158686" y="55280"/>
                </a:lnTo>
                <a:lnTo>
                  <a:pt x="156817" y="50319"/>
                </a:lnTo>
                <a:lnTo>
                  <a:pt x="154630" y="45489"/>
                </a:lnTo>
                <a:lnTo>
                  <a:pt x="152131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2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79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2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2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79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4"/>
          <p:cNvSpPr/>
          <p:nvPr/>
        </p:nvSpPr>
        <p:spPr>
          <a:xfrm>
            <a:off x="8921541" y="4075713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7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5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7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8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7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5"/>
          <p:cNvSpPr/>
          <p:nvPr/>
        </p:nvSpPr>
        <p:spPr>
          <a:xfrm>
            <a:off x="11515190" y="3154256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8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4" y="86894"/>
                </a:lnTo>
                <a:lnTo>
                  <a:pt x="163022" y="81511"/>
                </a:lnTo>
                <a:lnTo>
                  <a:pt x="162844" y="76128"/>
                </a:lnTo>
                <a:lnTo>
                  <a:pt x="162315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1" y="40807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6"/>
          <p:cNvSpPr/>
          <p:nvPr/>
        </p:nvSpPr>
        <p:spPr>
          <a:xfrm>
            <a:off x="8752863" y="4229873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0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5" y="92225"/>
                </a:lnTo>
                <a:lnTo>
                  <a:pt x="162845" y="86895"/>
                </a:lnTo>
                <a:lnTo>
                  <a:pt x="163022" y="81512"/>
                </a:lnTo>
                <a:lnTo>
                  <a:pt x="162845" y="76128"/>
                </a:lnTo>
                <a:lnTo>
                  <a:pt x="162315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0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8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47"/>
          <p:cNvSpPr/>
          <p:nvPr/>
        </p:nvSpPr>
        <p:spPr>
          <a:xfrm>
            <a:off x="8387209" y="4233377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6" y="162316"/>
                </a:lnTo>
                <a:lnTo>
                  <a:pt x="97488" y="161442"/>
                </a:lnTo>
                <a:lnTo>
                  <a:pt x="102666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7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4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4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9" y="149327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9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8"/>
          <p:cNvSpPr/>
          <p:nvPr/>
        </p:nvSpPr>
        <p:spPr>
          <a:xfrm>
            <a:off x="8487287" y="3847977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6" y="162315"/>
                </a:lnTo>
                <a:lnTo>
                  <a:pt x="97488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8" y="1580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0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9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6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9"/>
          <p:cNvSpPr/>
          <p:nvPr/>
        </p:nvSpPr>
        <p:spPr>
          <a:xfrm>
            <a:off x="9153287" y="3883013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50"/>
          <p:cNvSpPr/>
          <p:nvPr/>
        </p:nvSpPr>
        <p:spPr>
          <a:xfrm>
            <a:off x="9702811" y="3721846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2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8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5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29" y="102665"/>
                </a:lnTo>
                <a:lnTo>
                  <a:pt x="161441" y="97487"/>
                </a:lnTo>
                <a:lnTo>
                  <a:pt x="162315" y="92225"/>
                </a:lnTo>
                <a:lnTo>
                  <a:pt x="162844" y="86894"/>
                </a:lnTo>
                <a:lnTo>
                  <a:pt x="163022" y="81511"/>
                </a:lnTo>
                <a:lnTo>
                  <a:pt x="162844" y="76128"/>
                </a:lnTo>
                <a:lnTo>
                  <a:pt x="162315" y="70797"/>
                </a:lnTo>
                <a:lnTo>
                  <a:pt x="161441" y="65535"/>
                </a:lnTo>
                <a:lnTo>
                  <a:pt x="160229" y="60357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1" y="40806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2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51"/>
          <p:cNvSpPr/>
          <p:nvPr/>
        </p:nvSpPr>
        <p:spPr>
          <a:xfrm>
            <a:off x="8580331" y="4086224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0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5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0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52"/>
          <p:cNvSpPr/>
          <p:nvPr/>
        </p:nvSpPr>
        <p:spPr>
          <a:xfrm>
            <a:off x="8062610" y="3459073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6" y="162315"/>
                </a:lnTo>
                <a:lnTo>
                  <a:pt x="97488" y="161441"/>
                </a:lnTo>
                <a:lnTo>
                  <a:pt x="102666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7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6" y="2792"/>
                </a:lnTo>
                <a:lnTo>
                  <a:pt x="97488" y="1580"/>
                </a:lnTo>
                <a:lnTo>
                  <a:pt x="92226" y="707"/>
                </a:lnTo>
                <a:lnTo>
                  <a:pt x="86895" y="177"/>
                </a:lnTo>
                <a:lnTo>
                  <a:pt x="81512" y="0"/>
                </a:lnTo>
                <a:lnTo>
                  <a:pt x="76128" y="177"/>
                </a:lnTo>
                <a:lnTo>
                  <a:pt x="70798" y="707"/>
                </a:lnTo>
                <a:lnTo>
                  <a:pt x="65536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0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7" y="20193"/>
                </a:lnTo>
                <a:lnTo>
                  <a:pt x="23874" y="23873"/>
                </a:lnTo>
                <a:lnTo>
                  <a:pt x="20194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4" y="135216"/>
                </a:lnTo>
                <a:lnTo>
                  <a:pt x="23874" y="139148"/>
                </a:lnTo>
                <a:lnTo>
                  <a:pt x="27807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9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6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53"/>
          <p:cNvSpPr/>
          <p:nvPr/>
        </p:nvSpPr>
        <p:spPr>
          <a:xfrm>
            <a:off x="8660748" y="3620240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9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9"/>
                </a:lnTo>
                <a:lnTo>
                  <a:pt x="152132" y="40807"/>
                </a:lnTo>
                <a:lnTo>
                  <a:pt x="149327" y="36288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54"/>
          <p:cNvSpPr/>
          <p:nvPr/>
        </p:nvSpPr>
        <p:spPr>
          <a:xfrm>
            <a:off x="9565990" y="2383455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5"/>
                </a:lnTo>
                <a:lnTo>
                  <a:pt x="92225" y="162315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6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8" y="706"/>
                </a:lnTo>
                <a:lnTo>
                  <a:pt x="65535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5"/>
                </a:lnTo>
                <a:lnTo>
                  <a:pt x="76128" y="162845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55"/>
          <p:cNvSpPr/>
          <p:nvPr/>
        </p:nvSpPr>
        <p:spPr>
          <a:xfrm>
            <a:off x="9167140" y="2880972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5"/>
                </a:lnTo>
                <a:lnTo>
                  <a:pt x="92225" y="162315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6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6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5"/>
                </a:lnTo>
                <a:lnTo>
                  <a:pt x="76128" y="162845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6"/>
          <p:cNvSpPr/>
          <p:nvPr/>
        </p:nvSpPr>
        <p:spPr>
          <a:xfrm>
            <a:off x="10401346" y="3014110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6" y="162316"/>
                </a:lnTo>
                <a:lnTo>
                  <a:pt x="97488" y="161442"/>
                </a:lnTo>
                <a:lnTo>
                  <a:pt x="102666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4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4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9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7"/>
          <p:cNvSpPr/>
          <p:nvPr/>
        </p:nvSpPr>
        <p:spPr>
          <a:xfrm>
            <a:off x="7943473" y="4138779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5" y="131073"/>
                </a:lnTo>
                <a:lnTo>
                  <a:pt x="149327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7" y="36288"/>
                </a:lnTo>
                <a:lnTo>
                  <a:pt x="146225" y="31949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8"/>
          <p:cNvSpPr/>
          <p:nvPr/>
        </p:nvSpPr>
        <p:spPr>
          <a:xfrm>
            <a:off x="9325571" y="4047684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29"/>
                </a:lnTo>
                <a:lnTo>
                  <a:pt x="139149" y="139149"/>
                </a:lnTo>
                <a:lnTo>
                  <a:pt x="142829" y="135216"/>
                </a:lnTo>
                <a:lnTo>
                  <a:pt x="146225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5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9"/>
          <p:cNvSpPr/>
          <p:nvPr/>
        </p:nvSpPr>
        <p:spPr>
          <a:xfrm>
            <a:off x="9823042" y="3669291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6" y="162315"/>
                </a:lnTo>
                <a:lnTo>
                  <a:pt x="97488" y="161442"/>
                </a:lnTo>
                <a:lnTo>
                  <a:pt x="102666" y="160230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7" y="20193"/>
                </a:lnTo>
                <a:lnTo>
                  <a:pt x="23874" y="23874"/>
                </a:lnTo>
                <a:lnTo>
                  <a:pt x="20194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4" y="135216"/>
                </a:lnTo>
                <a:lnTo>
                  <a:pt x="23874" y="139148"/>
                </a:lnTo>
                <a:lnTo>
                  <a:pt x="27807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9" y="156817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60"/>
          <p:cNvSpPr/>
          <p:nvPr/>
        </p:nvSpPr>
        <p:spPr>
          <a:xfrm>
            <a:off x="9279860" y="3728853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8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9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6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61"/>
          <p:cNvSpPr/>
          <p:nvPr/>
        </p:nvSpPr>
        <p:spPr>
          <a:xfrm>
            <a:off x="10323618" y="3564182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2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5" y="152131"/>
                </a:lnTo>
                <a:lnTo>
                  <a:pt x="126734" y="149327"/>
                </a:lnTo>
                <a:lnTo>
                  <a:pt x="131072" y="146224"/>
                </a:lnTo>
                <a:lnTo>
                  <a:pt x="135216" y="142829"/>
                </a:lnTo>
                <a:lnTo>
                  <a:pt x="139148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5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29" y="102665"/>
                </a:lnTo>
                <a:lnTo>
                  <a:pt x="161441" y="97487"/>
                </a:lnTo>
                <a:lnTo>
                  <a:pt x="162315" y="92225"/>
                </a:lnTo>
                <a:lnTo>
                  <a:pt x="162844" y="86894"/>
                </a:lnTo>
                <a:lnTo>
                  <a:pt x="163022" y="81511"/>
                </a:lnTo>
                <a:lnTo>
                  <a:pt x="162844" y="76128"/>
                </a:lnTo>
                <a:lnTo>
                  <a:pt x="162315" y="70797"/>
                </a:lnTo>
                <a:lnTo>
                  <a:pt x="161441" y="65535"/>
                </a:lnTo>
                <a:lnTo>
                  <a:pt x="160229" y="60357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1" y="40806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2" y="16798"/>
                </a:lnTo>
                <a:lnTo>
                  <a:pt x="126734" y="13695"/>
                </a:lnTo>
                <a:lnTo>
                  <a:pt x="122215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2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0"/>
                </a:lnTo>
                <a:lnTo>
                  <a:pt x="60357" y="2792"/>
                </a:lnTo>
                <a:lnTo>
                  <a:pt x="55279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3" y="23874"/>
                </a:lnTo>
                <a:lnTo>
                  <a:pt x="20193" y="27806"/>
                </a:lnTo>
                <a:lnTo>
                  <a:pt x="16797" y="31949"/>
                </a:lnTo>
                <a:lnTo>
                  <a:pt x="13695" y="36288"/>
                </a:lnTo>
                <a:lnTo>
                  <a:pt x="10890" y="40806"/>
                </a:lnTo>
                <a:lnTo>
                  <a:pt x="8391" y="45488"/>
                </a:lnTo>
                <a:lnTo>
                  <a:pt x="6204" y="50318"/>
                </a:lnTo>
                <a:lnTo>
                  <a:pt x="4336" y="55280"/>
                </a:lnTo>
                <a:lnTo>
                  <a:pt x="2792" y="60357"/>
                </a:lnTo>
                <a:lnTo>
                  <a:pt x="1580" y="65535"/>
                </a:lnTo>
                <a:lnTo>
                  <a:pt x="706" y="70797"/>
                </a:lnTo>
                <a:lnTo>
                  <a:pt x="177" y="76128"/>
                </a:lnTo>
                <a:lnTo>
                  <a:pt x="0" y="81511"/>
                </a:lnTo>
                <a:lnTo>
                  <a:pt x="177" y="86894"/>
                </a:lnTo>
                <a:lnTo>
                  <a:pt x="706" y="92225"/>
                </a:lnTo>
                <a:lnTo>
                  <a:pt x="1580" y="97487"/>
                </a:lnTo>
                <a:lnTo>
                  <a:pt x="2792" y="102665"/>
                </a:lnTo>
                <a:lnTo>
                  <a:pt x="4336" y="107742"/>
                </a:lnTo>
                <a:lnTo>
                  <a:pt x="6204" y="112704"/>
                </a:lnTo>
                <a:lnTo>
                  <a:pt x="8391" y="117534"/>
                </a:lnTo>
                <a:lnTo>
                  <a:pt x="10890" y="122215"/>
                </a:lnTo>
                <a:lnTo>
                  <a:pt x="13695" y="126734"/>
                </a:lnTo>
                <a:lnTo>
                  <a:pt x="16797" y="131073"/>
                </a:lnTo>
                <a:lnTo>
                  <a:pt x="20193" y="135216"/>
                </a:lnTo>
                <a:lnTo>
                  <a:pt x="23873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79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62"/>
          <p:cNvSpPr/>
          <p:nvPr/>
        </p:nvSpPr>
        <p:spPr>
          <a:xfrm>
            <a:off x="11503840" y="2944037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2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29"/>
                </a:lnTo>
                <a:lnTo>
                  <a:pt x="139148" y="139149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29" y="102665"/>
                </a:lnTo>
                <a:lnTo>
                  <a:pt x="161441" y="97487"/>
                </a:lnTo>
                <a:lnTo>
                  <a:pt x="162315" y="92225"/>
                </a:lnTo>
                <a:lnTo>
                  <a:pt x="162844" y="86895"/>
                </a:lnTo>
                <a:lnTo>
                  <a:pt x="163022" y="81511"/>
                </a:lnTo>
                <a:lnTo>
                  <a:pt x="162844" y="76128"/>
                </a:lnTo>
                <a:lnTo>
                  <a:pt x="162315" y="70798"/>
                </a:lnTo>
                <a:lnTo>
                  <a:pt x="161441" y="65535"/>
                </a:lnTo>
                <a:lnTo>
                  <a:pt x="160229" y="60358"/>
                </a:lnTo>
                <a:lnTo>
                  <a:pt x="158686" y="55280"/>
                </a:lnTo>
                <a:lnTo>
                  <a:pt x="156817" y="50319"/>
                </a:lnTo>
                <a:lnTo>
                  <a:pt x="154630" y="45489"/>
                </a:lnTo>
                <a:lnTo>
                  <a:pt x="152131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7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2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63"/>
          <p:cNvSpPr/>
          <p:nvPr/>
        </p:nvSpPr>
        <p:spPr>
          <a:xfrm>
            <a:off x="9443912" y="3876006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4" y="131072"/>
                </a:lnTo>
                <a:lnTo>
                  <a:pt x="149327" y="126734"/>
                </a:lnTo>
                <a:lnTo>
                  <a:pt x="152132" y="122215"/>
                </a:lnTo>
                <a:lnTo>
                  <a:pt x="154630" y="117533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2" y="40806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9" y="23873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4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7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0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64"/>
          <p:cNvSpPr/>
          <p:nvPr/>
        </p:nvSpPr>
        <p:spPr>
          <a:xfrm>
            <a:off x="10115029" y="3504620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5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65"/>
          <p:cNvSpPr/>
          <p:nvPr/>
        </p:nvSpPr>
        <p:spPr>
          <a:xfrm>
            <a:off x="11171543" y="3252357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7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5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6" y="92226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7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7"/>
                </a:lnTo>
                <a:lnTo>
                  <a:pt x="139149" y="23874"/>
                </a:lnTo>
                <a:lnTo>
                  <a:pt x="135217" y="20194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4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6"/>
                </a:lnTo>
                <a:lnTo>
                  <a:pt x="1581" y="97488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9" y="156818"/>
                </a:lnTo>
                <a:lnTo>
                  <a:pt x="55280" y="158687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66"/>
          <p:cNvSpPr/>
          <p:nvPr/>
        </p:nvSpPr>
        <p:spPr>
          <a:xfrm>
            <a:off x="9680979" y="3641261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7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5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5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6" y="92226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7"/>
                </a:lnTo>
                <a:lnTo>
                  <a:pt x="139149" y="23874"/>
                </a:lnTo>
                <a:lnTo>
                  <a:pt x="135217" y="20194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4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6"/>
                </a:lnTo>
                <a:lnTo>
                  <a:pt x="1581" y="97488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5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7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67"/>
          <p:cNvSpPr/>
          <p:nvPr/>
        </p:nvSpPr>
        <p:spPr>
          <a:xfrm>
            <a:off x="8960998" y="3942575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8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8" y="1580"/>
                </a:lnTo>
                <a:lnTo>
                  <a:pt x="92225" y="707"/>
                </a:lnTo>
                <a:lnTo>
                  <a:pt x="86895" y="177"/>
                </a:lnTo>
                <a:lnTo>
                  <a:pt x="81512" y="0"/>
                </a:lnTo>
                <a:lnTo>
                  <a:pt x="76128" y="177"/>
                </a:lnTo>
                <a:lnTo>
                  <a:pt x="70798" y="707"/>
                </a:lnTo>
                <a:lnTo>
                  <a:pt x="65535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0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5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68"/>
          <p:cNvSpPr/>
          <p:nvPr/>
        </p:nvSpPr>
        <p:spPr>
          <a:xfrm>
            <a:off x="8585146" y="3991257"/>
            <a:ext cx="219820" cy="219819"/>
          </a:xfrm>
          <a:custGeom>
            <a:avLst/>
            <a:gdLst/>
            <a:ahLst/>
            <a:cxnLst/>
            <a:rect l="l" t="t" r="r" b="b"/>
            <a:pathLst>
              <a:path w="219820" h="219819">
                <a:moveTo>
                  <a:pt x="0" y="219819"/>
                </a:moveTo>
                <a:lnTo>
                  <a:pt x="219820" y="0"/>
                </a:lnTo>
                <a:close/>
                <a:moveTo>
                  <a:pt x="0" y="0"/>
                </a:moveTo>
                <a:lnTo>
                  <a:pt x="219820" y="219819"/>
                </a:lnTo>
                <a:close/>
              </a:path>
            </a:pathLst>
          </a:custGeom>
          <a:solidFill>
            <a:srgbClr val="2B2B2B"/>
          </a:solidFill>
          <a:ln w="344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9"/>
          <p:cNvSpPr/>
          <p:nvPr/>
        </p:nvSpPr>
        <p:spPr>
          <a:xfrm>
            <a:off x="10009784" y="2439144"/>
            <a:ext cx="219819" cy="219819"/>
          </a:xfrm>
          <a:custGeom>
            <a:avLst/>
            <a:gdLst/>
            <a:ahLst/>
            <a:cxnLst/>
            <a:rect l="l" t="t" r="r" b="b"/>
            <a:pathLst>
              <a:path w="219819" h="219819">
                <a:moveTo>
                  <a:pt x="0" y="219819"/>
                </a:moveTo>
                <a:lnTo>
                  <a:pt x="219819" y="0"/>
                </a:lnTo>
                <a:close/>
                <a:moveTo>
                  <a:pt x="0" y="0"/>
                </a:moveTo>
                <a:lnTo>
                  <a:pt x="219819" y="219819"/>
                </a:lnTo>
                <a:close/>
              </a:path>
            </a:pathLst>
          </a:custGeom>
          <a:solidFill>
            <a:srgbClr val="2B2B2B"/>
          </a:solidFill>
          <a:ln w="344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13626" y="1652560"/>
            <a:ext cx="1929524" cy="39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93" b="0" i="0">
                <a:solidFill>
                  <a:srgbClr val="2B2B2B"/>
                </a:solidFill>
                <a:latin typeface="Times New Roman"/>
              </a:rPr>
              <a:t>3 never attach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29290" y="1049394"/>
            <a:ext cx="3505606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(b) Arrival variability</a:t>
            </a:r>
          </a:p>
        </p:txBody>
      </p:sp>
      <p:sp>
        <p:nvSpPr>
          <p:cNvPr id="90" name="Editable path 70"/>
          <p:cNvSpPr/>
          <p:nvPr/>
        </p:nvSpPr>
        <p:spPr>
          <a:xfrm>
            <a:off x="8703898" y="552688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2" y="158686"/>
                </a:lnTo>
                <a:lnTo>
                  <a:pt x="112704" y="156818"/>
                </a:lnTo>
                <a:lnTo>
                  <a:pt x="117533" y="154631"/>
                </a:lnTo>
                <a:lnTo>
                  <a:pt x="122215" y="152132"/>
                </a:lnTo>
                <a:lnTo>
                  <a:pt x="126734" y="149328"/>
                </a:lnTo>
                <a:lnTo>
                  <a:pt x="131072" y="146225"/>
                </a:lnTo>
                <a:lnTo>
                  <a:pt x="135216" y="142829"/>
                </a:lnTo>
                <a:lnTo>
                  <a:pt x="139148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9"/>
                </a:lnTo>
                <a:lnTo>
                  <a:pt x="152131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2" y="16798"/>
                </a:lnTo>
                <a:lnTo>
                  <a:pt x="126734" y="13695"/>
                </a:lnTo>
                <a:lnTo>
                  <a:pt x="122215" y="10891"/>
                </a:lnTo>
                <a:lnTo>
                  <a:pt x="117533" y="8392"/>
                </a:lnTo>
                <a:lnTo>
                  <a:pt x="112704" y="6205"/>
                </a:lnTo>
                <a:lnTo>
                  <a:pt x="107742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64134" y="451035"/>
            <a:ext cx="668203" cy="39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93" b="0" i="0">
                <a:solidFill>
                  <a:srgbClr val="2B2B2B"/>
                </a:solidFill>
                <a:latin typeface="Times New Roman"/>
              </a:rPr>
              <a:t>Pass</a:t>
            </a:r>
          </a:p>
        </p:txBody>
      </p:sp>
      <p:sp>
        <p:nvSpPr>
          <p:cNvPr id="92" name="Editable path 71"/>
          <p:cNvSpPr/>
          <p:nvPr/>
        </p:nvSpPr>
        <p:spPr>
          <a:xfrm>
            <a:off x="10204686" y="524290"/>
            <a:ext cx="219820" cy="219819"/>
          </a:xfrm>
          <a:custGeom>
            <a:avLst/>
            <a:gdLst/>
            <a:ahLst/>
            <a:cxnLst/>
            <a:rect l="l" t="t" r="r" b="b"/>
            <a:pathLst>
              <a:path w="219820" h="219819">
                <a:moveTo>
                  <a:pt x="0" y="219819"/>
                </a:moveTo>
                <a:lnTo>
                  <a:pt x="219820" y="0"/>
                </a:lnTo>
                <a:close/>
                <a:moveTo>
                  <a:pt x="0" y="0"/>
                </a:moveTo>
                <a:lnTo>
                  <a:pt x="219820" y="219819"/>
                </a:lnTo>
                <a:close/>
              </a:path>
            </a:pathLst>
          </a:custGeom>
          <a:solidFill>
            <a:srgbClr val="2B2B2B"/>
          </a:solidFill>
          <a:ln w="344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93321" y="451035"/>
            <a:ext cx="594763" cy="39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93" b="0" i="0">
                <a:solidFill>
                  <a:srgbClr val="2B2B2B"/>
                </a:solidFill>
                <a:latin typeface="Times New Roman"/>
              </a:rPr>
              <a:t>Fail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