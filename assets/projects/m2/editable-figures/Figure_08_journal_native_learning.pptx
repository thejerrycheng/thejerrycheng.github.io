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97078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journal_native_learning.pdf.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3970781"/>
          </a:xfrm>
          <a:custGeom>
            <a:avLst/>
            <a:gdLst/>
            <a:ahLst/>
            <a:cxnLst/>
            <a:rect l="l" t="t" r="r" b="b"/>
            <a:pathLst>
              <a:path w="12191999" h="3970781">
                <a:moveTo>
                  <a:pt x="0" y="0"/>
                </a:moveTo>
                <a:lnTo>
                  <a:pt x="12191999" y="0"/>
                </a:lnTo>
                <a:lnTo>
                  <a:pt x="12191999" y="3970781"/>
                </a:lnTo>
                <a:lnTo>
                  <a:pt x="0" y="3970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809699" y="450690"/>
            <a:ext cx="2730744" cy="2781393"/>
          </a:xfrm>
          <a:custGeom>
            <a:avLst/>
            <a:gdLst/>
            <a:ahLst/>
            <a:cxnLst/>
            <a:rect l="l" t="t" r="r" b="b"/>
            <a:pathLst>
              <a:path w="2730744" h="2781393">
                <a:moveTo>
                  <a:pt x="0" y="0"/>
                </a:moveTo>
                <a:lnTo>
                  <a:pt x="2730744" y="0"/>
                </a:lnTo>
                <a:lnTo>
                  <a:pt x="2730744" y="2781393"/>
                </a:lnTo>
                <a:lnTo>
                  <a:pt x="0" y="2781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98" y="450690"/>
            <a:ext cx="2730743" cy="2781393"/>
          </a:xfrm>
          <a:prstGeom prst="rect">
            <a:avLst/>
          </a:prstGeom>
        </p:spPr>
      </p:pic>
      <p:sp>
        <p:nvSpPr>
          <p:cNvPr id="5" name="Editable path 3"/>
          <p:cNvSpPr/>
          <p:nvPr/>
        </p:nvSpPr>
        <p:spPr>
          <a:xfrm>
            <a:off x="837006" y="1396364"/>
            <a:ext cx="1310757" cy="890046"/>
          </a:xfrm>
          <a:custGeom>
            <a:avLst/>
            <a:gdLst/>
            <a:ahLst/>
            <a:cxnLst/>
            <a:rect l="l" t="t" r="r" b="b"/>
            <a:pathLst>
              <a:path w="1310757" h="890046">
                <a:moveTo>
                  <a:pt x="0" y="890046"/>
                </a:moveTo>
                <a:lnTo>
                  <a:pt x="0" y="0"/>
                </a:lnTo>
                <a:lnTo>
                  <a:pt x="1310757" y="0"/>
                </a:lnTo>
                <a:lnTo>
                  <a:pt x="1310757" y="890046"/>
                </a:lnTo>
                <a:lnTo>
                  <a:pt x="0" y="890046"/>
                </a:lnTo>
              </a:path>
            </a:pathLst>
          </a:custGeom>
          <a:noFill/>
          <a:ln w="32623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path 4"/>
          <p:cNvSpPr/>
          <p:nvPr/>
        </p:nvSpPr>
        <p:spPr>
          <a:xfrm>
            <a:off x="1492385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0824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70</a:t>
            </a:r>
          </a:p>
        </p:txBody>
      </p:sp>
      <p:sp>
        <p:nvSpPr>
          <p:cNvPr id="8" name="Editable path 5"/>
          <p:cNvSpPr/>
          <p:nvPr/>
        </p:nvSpPr>
        <p:spPr>
          <a:xfrm>
            <a:off x="2857757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6196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2971" y="3609966"/>
            <a:ext cx="1610128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Forward offset (mm)</a:t>
            </a:r>
          </a:p>
        </p:txBody>
      </p:sp>
      <p:sp>
        <p:nvSpPr>
          <p:cNvPr id="11" name="Editable path 6"/>
          <p:cNvSpPr/>
          <p:nvPr/>
        </p:nvSpPr>
        <p:spPr>
          <a:xfrm>
            <a:off x="728139" y="2768518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208" y="2690683"/>
            <a:ext cx="25821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-70</a:t>
            </a:r>
          </a:p>
        </p:txBody>
      </p:sp>
      <p:sp>
        <p:nvSpPr>
          <p:cNvPr id="13" name="Editable path 7"/>
          <p:cNvSpPr/>
          <p:nvPr/>
        </p:nvSpPr>
        <p:spPr>
          <a:xfrm>
            <a:off x="728139" y="1841387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208" y="1763552"/>
            <a:ext cx="25821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-65</a:t>
            </a:r>
          </a:p>
        </p:txBody>
      </p:sp>
      <p:sp>
        <p:nvSpPr>
          <p:cNvPr id="15" name="Editable path 8"/>
          <p:cNvSpPr/>
          <p:nvPr/>
        </p:nvSpPr>
        <p:spPr>
          <a:xfrm>
            <a:off x="728139" y="914256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208" y="836422"/>
            <a:ext cx="25821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-60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-655848" y="1725500"/>
            <a:ext cx="1874661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Palm height offset (mm)</a:t>
            </a:r>
          </a:p>
        </p:txBody>
      </p:sp>
      <p:sp>
        <p:nvSpPr>
          <p:cNvPr id="18" name="Editable path 9"/>
          <p:cNvSpPr/>
          <p:nvPr/>
        </p:nvSpPr>
        <p:spPr>
          <a:xfrm>
            <a:off x="809699" y="450690"/>
            <a:ext cx="0" cy="2781393"/>
          </a:xfrm>
          <a:custGeom>
            <a:avLst/>
            <a:gdLst/>
            <a:ahLst/>
            <a:cxnLst/>
            <a:rect l="l" t="t" r="r" b="b"/>
            <a:pathLst>
              <a:path w="0" h="2781393">
                <a:moveTo>
                  <a:pt x="0" y="2781393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0"/>
          <p:cNvSpPr/>
          <p:nvPr/>
        </p:nvSpPr>
        <p:spPr>
          <a:xfrm>
            <a:off x="3540443" y="450690"/>
            <a:ext cx="0" cy="2781393"/>
          </a:xfrm>
          <a:custGeom>
            <a:avLst/>
            <a:gdLst/>
            <a:ahLst/>
            <a:cxnLst/>
            <a:rect l="l" t="t" r="r" b="b"/>
            <a:pathLst>
              <a:path w="0" h="2781393">
                <a:moveTo>
                  <a:pt x="0" y="2781393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1"/>
          <p:cNvSpPr/>
          <p:nvPr/>
        </p:nvSpPr>
        <p:spPr>
          <a:xfrm>
            <a:off x="809699" y="3232083"/>
            <a:ext cx="2730744" cy="0"/>
          </a:xfrm>
          <a:custGeom>
            <a:avLst/>
            <a:gdLst/>
            <a:ahLst/>
            <a:cxnLst/>
            <a:rect l="l" t="t" r="r" b="b"/>
            <a:pathLst>
              <a:path w="2730744" h="0">
                <a:moveTo>
                  <a:pt x="0" y="0"/>
                </a:moveTo>
                <a:lnTo>
                  <a:pt x="2730744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2"/>
          <p:cNvSpPr/>
          <p:nvPr/>
        </p:nvSpPr>
        <p:spPr>
          <a:xfrm>
            <a:off x="809699" y="450690"/>
            <a:ext cx="2730744" cy="0"/>
          </a:xfrm>
          <a:custGeom>
            <a:avLst/>
            <a:gdLst/>
            <a:ahLst/>
            <a:cxnLst/>
            <a:rect l="l" t="t" r="r" b="b"/>
            <a:pathLst>
              <a:path w="2730744" h="0">
                <a:moveTo>
                  <a:pt x="0" y="0"/>
                </a:moveTo>
                <a:lnTo>
                  <a:pt x="2730744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2567" y="2659409"/>
            <a:ext cx="326238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303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7939" y="2659409"/>
            <a:ext cx="326238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297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2567" y="1732278"/>
            <a:ext cx="326238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296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7939" y="1732278"/>
            <a:ext cx="326238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5779" y="805147"/>
            <a:ext cx="139816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7939" y="805147"/>
            <a:ext cx="326238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302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619" y="148715"/>
            <a:ext cx="2299237" cy="237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9" b="0" i="0">
                <a:solidFill>
                  <a:srgbClr val="2B2B2B"/>
                </a:solidFill>
                <a:latin typeface="Times New Roman"/>
              </a:rPr>
              <a:t>(a) Worst-case support steps</a:t>
            </a:r>
          </a:p>
        </p:txBody>
      </p:sp>
      <p:sp>
        <p:nvSpPr>
          <p:cNvPr id="29" name="Editable path 13"/>
          <p:cNvSpPr/>
          <p:nvPr/>
        </p:nvSpPr>
        <p:spPr>
          <a:xfrm>
            <a:off x="4349133" y="450690"/>
            <a:ext cx="3694535" cy="2781393"/>
          </a:xfrm>
          <a:custGeom>
            <a:avLst/>
            <a:gdLst/>
            <a:ahLst/>
            <a:cxnLst/>
            <a:rect l="l" t="t" r="r" b="b"/>
            <a:pathLst>
              <a:path w="3694535" h="2781393">
                <a:moveTo>
                  <a:pt x="0" y="0"/>
                </a:moveTo>
                <a:lnTo>
                  <a:pt x="3694535" y="0"/>
                </a:lnTo>
                <a:lnTo>
                  <a:pt x="3694535" y="2781393"/>
                </a:lnTo>
                <a:lnTo>
                  <a:pt x="0" y="2781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14"/>
          <p:cNvSpPr/>
          <p:nvPr/>
        </p:nvSpPr>
        <p:spPr>
          <a:xfrm>
            <a:off x="4349133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8352" y="337307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2" name="Editable path 15"/>
          <p:cNvSpPr/>
          <p:nvPr/>
        </p:nvSpPr>
        <p:spPr>
          <a:xfrm>
            <a:off x="5188800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7240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34" name="Editable path 16"/>
          <p:cNvSpPr/>
          <p:nvPr/>
        </p:nvSpPr>
        <p:spPr>
          <a:xfrm>
            <a:off x="6028467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6907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36" name="Editable path 17"/>
          <p:cNvSpPr/>
          <p:nvPr/>
        </p:nvSpPr>
        <p:spPr>
          <a:xfrm>
            <a:off x="6868134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6574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60</a:t>
            </a:r>
          </a:p>
        </p:txBody>
      </p:sp>
      <p:sp>
        <p:nvSpPr>
          <p:cNvPr id="38" name="Editable path 18"/>
          <p:cNvSpPr/>
          <p:nvPr/>
        </p:nvSpPr>
        <p:spPr>
          <a:xfrm>
            <a:off x="7707802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6242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2003" y="3609966"/>
            <a:ext cx="2356003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Environment steps (thousands)</a:t>
            </a:r>
          </a:p>
        </p:txBody>
      </p:sp>
      <p:sp>
        <p:nvSpPr>
          <p:cNvPr id="41" name="Editable path 19"/>
          <p:cNvSpPr/>
          <p:nvPr/>
        </p:nvSpPr>
        <p:spPr>
          <a:xfrm>
            <a:off x="4349133" y="3156910"/>
            <a:ext cx="3694535" cy="0"/>
          </a:xfrm>
          <a:custGeom>
            <a:avLst/>
            <a:gdLst/>
            <a:ahLst/>
            <a:cxnLst/>
            <a:rect l="l" t="t" r="r" b="b"/>
            <a:pathLst>
              <a:path w="3694535" h="0">
                <a:moveTo>
                  <a:pt x="0" y="0"/>
                </a:moveTo>
                <a:lnTo>
                  <a:pt x="3694535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0"/>
          <p:cNvSpPr/>
          <p:nvPr/>
        </p:nvSpPr>
        <p:spPr>
          <a:xfrm>
            <a:off x="4267573" y="3156910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04453" y="3079076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4" name="Editable path 21"/>
          <p:cNvSpPr/>
          <p:nvPr/>
        </p:nvSpPr>
        <p:spPr>
          <a:xfrm>
            <a:off x="4349133" y="2655759"/>
            <a:ext cx="3694535" cy="0"/>
          </a:xfrm>
          <a:custGeom>
            <a:avLst/>
            <a:gdLst/>
            <a:ahLst/>
            <a:cxnLst/>
            <a:rect l="l" t="t" r="r" b="b"/>
            <a:pathLst>
              <a:path w="3694535" h="0">
                <a:moveTo>
                  <a:pt x="0" y="0"/>
                </a:moveTo>
                <a:lnTo>
                  <a:pt x="3694535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22"/>
          <p:cNvSpPr/>
          <p:nvPr/>
        </p:nvSpPr>
        <p:spPr>
          <a:xfrm>
            <a:off x="4267573" y="2655759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2893" y="2577924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47" name="Editable path 23"/>
          <p:cNvSpPr/>
          <p:nvPr/>
        </p:nvSpPr>
        <p:spPr>
          <a:xfrm>
            <a:off x="4349133" y="2154607"/>
            <a:ext cx="3694535" cy="0"/>
          </a:xfrm>
          <a:custGeom>
            <a:avLst/>
            <a:gdLst/>
            <a:ahLst/>
            <a:cxnLst/>
            <a:rect l="l" t="t" r="r" b="b"/>
            <a:pathLst>
              <a:path w="3694535" h="0">
                <a:moveTo>
                  <a:pt x="0" y="0"/>
                </a:moveTo>
                <a:lnTo>
                  <a:pt x="3694535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24"/>
          <p:cNvSpPr/>
          <p:nvPr/>
        </p:nvSpPr>
        <p:spPr>
          <a:xfrm>
            <a:off x="4267573" y="2154607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2893" y="2076772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50" name="Editable path 25"/>
          <p:cNvSpPr/>
          <p:nvPr/>
        </p:nvSpPr>
        <p:spPr>
          <a:xfrm>
            <a:off x="4349133" y="1653455"/>
            <a:ext cx="3694535" cy="0"/>
          </a:xfrm>
          <a:custGeom>
            <a:avLst/>
            <a:gdLst/>
            <a:ahLst/>
            <a:cxnLst/>
            <a:rect l="l" t="t" r="r" b="b"/>
            <a:pathLst>
              <a:path w="3694535" h="0">
                <a:moveTo>
                  <a:pt x="0" y="0"/>
                </a:moveTo>
                <a:lnTo>
                  <a:pt x="3694535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26"/>
          <p:cNvSpPr/>
          <p:nvPr/>
        </p:nvSpPr>
        <p:spPr>
          <a:xfrm>
            <a:off x="4267573" y="1653455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2893" y="1575620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60</a:t>
            </a:r>
          </a:p>
        </p:txBody>
      </p:sp>
      <p:sp>
        <p:nvSpPr>
          <p:cNvPr id="53" name="Editable path 27"/>
          <p:cNvSpPr/>
          <p:nvPr/>
        </p:nvSpPr>
        <p:spPr>
          <a:xfrm>
            <a:off x="4349133" y="1152303"/>
            <a:ext cx="3694535" cy="0"/>
          </a:xfrm>
          <a:custGeom>
            <a:avLst/>
            <a:gdLst/>
            <a:ahLst/>
            <a:cxnLst/>
            <a:rect l="l" t="t" r="r" b="b"/>
            <a:pathLst>
              <a:path w="3694535" h="0">
                <a:moveTo>
                  <a:pt x="0" y="0"/>
                </a:moveTo>
                <a:lnTo>
                  <a:pt x="3694535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28"/>
          <p:cNvSpPr/>
          <p:nvPr/>
        </p:nvSpPr>
        <p:spPr>
          <a:xfrm>
            <a:off x="4267573" y="1152303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2893" y="1074469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56" name="Editable path 29"/>
          <p:cNvSpPr/>
          <p:nvPr/>
        </p:nvSpPr>
        <p:spPr>
          <a:xfrm>
            <a:off x="4349133" y="651151"/>
            <a:ext cx="3694535" cy="0"/>
          </a:xfrm>
          <a:custGeom>
            <a:avLst/>
            <a:gdLst/>
            <a:ahLst/>
            <a:cxnLst/>
            <a:rect l="l" t="t" r="r" b="b"/>
            <a:pathLst>
              <a:path w="3694535" h="0">
                <a:moveTo>
                  <a:pt x="0" y="0"/>
                </a:moveTo>
                <a:lnTo>
                  <a:pt x="3694535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0"/>
          <p:cNvSpPr/>
          <p:nvPr/>
        </p:nvSpPr>
        <p:spPr>
          <a:xfrm>
            <a:off x="4267573" y="651151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41334" y="573317"/>
            <a:ext cx="28545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3320553" y="1725905"/>
            <a:ext cx="946837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Success (%)</a:t>
            </a:r>
          </a:p>
        </p:txBody>
      </p:sp>
      <p:sp>
        <p:nvSpPr>
          <p:cNvPr id="60" name="Editable path 31"/>
          <p:cNvSpPr/>
          <p:nvPr/>
        </p:nvSpPr>
        <p:spPr>
          <a:xfrm>
            <a:off x="4564088" y="2279894"/>
            <a:ext cx="3224321" cy="877016"/>
          </a:xfrm>
          <a:custGeom>
            <a:avLst/>
            <a:gdLst/>
            <a:ahLst/>
            <a:cxnLst/>
            <a:rect l="l" t="t" r="r" b="b"/>
            <a:pathLst>
              <a:path w="3224321" h="877016">
                <a:moveTo>
                  <a:pt x="0" y="877016"/>
                </a:moveTo>
                <a:lnTo>
                  <a:pt x="214954" y="877016"/>
                </a:lnTo>
                <a:lnTo>
                  <a:pt x="429909" y="877016"/>
                </a:lnTo>
                <a:lnTo>
                  <a:pt x="601873" y="877016"/>
                </a:lnTo>
                <a:lnTo>
                  <a:pt x="816828" y="877016"/>
                </a:lnTo>
                <a:lnTo>
                  <a:pt x="1031783" y="877016"/>
                </a:lnTo>
                <a:lnTo>
                  <a:pt x="1203747" y="751728"/>
                </a:lnTo>
                <a:lnTo>
                  <a:pt x="1375710" y="626440"/>
                </a:lnTo>
                <a:lnTo>
                  <a:pt x="1418702" y="501152"/>
                </a:lnTo>
                <a:lnTo>
                  <a:pt x="1504683" y="375865"/>
                </a:lnTo>
                <a:lnTo>
                  <a:pt x="1547674" y="250577"/>
                </a:lnTo>
                <a:lnTo>
                  <a:pt x="1590665" y="250577"/>
                </a:lnTo>
                <a:lnTo>
                  <a:pt x="1633656" y="250577"/>
                </a:lnTo>
                <a:lnTo>
                  <a:pt x="1719638" y="0"/>
                </a:lnTo>
                <a:lnTo>
                  <a:pt x="1762629" y="125289"/>
                </a:lnTo>
                <a:lnTo>
                  <a:pt x="1805620" y="250577"/>
                </a:lnTo>
                <a:lnTo>
                  <a:pt x="1934593" y="250577"/>
                </a:lnTo>
                <a:lnTo>
                  <a:pt x="1977584" y="501152"/>
                </a:lnTo>
                <a:lnTo>
                  <a:pt x="2020575" y="626440"/>
                </a:lnTo>
                <a:lnTo>
                  <a:pt x="2063566" y="501152"/>
                </a:lnTo>
                <a:lnTo>
                  <a:pt x="2149548" y="501152"/>
                </a:lnTo>
                <a:lnTo>
                  <a:pt x="2192539" y="626440"/>
                </a:lnTo>
                <a:lnTo>
                  <a:pt x="2235530" y="751728"/>
                </a:lnTo>
                <a:lnTo>
                  <a:pt x="2278520" y="626440"/>
                </a:lnTo>
                <a:lnTo>
                  <a:pt x="2364503" y="626440"/>
                </a:lnTo>
                <a:lnTo>
                  <a:pt x="2407493" y="501152"/>
                </a:lnTo>
                <a:lnTo>
                  <a:pt x="2450484" y="501152"/>
                </a:lnTo>
                <a:lnTo>
                  <a:pt x="2493475" y="501152"/>
                </a:lnTo>
                <a:lnTo>
                  <a:pt x="2536467" y="501152"/>
                </a:lnTo>
                <a:lnTo>
                  <a:pt x="2579457" y="501152"/>
                </a:lnTo>
                <a:lnTo>
                  <a:pt x="2622448" y="501152"/>
                </a:lnTo>
                <a:lnTo>
                  <a:pt x="2665439" y="501152"/>
                </a:lnTo>
                <a:lnTo>
                  <a:pt x="2708430" y="250577"/>
                </a:lnTo>
                <a:lnTo>
                  <a:pt x="2751421" y="250577"/>
                </a:lnTo>
                <a:lnTo>
                  <a:pt x="2794412" y="375865"/>
                </a:lnTo>
                <a:lnTo>
                  <a:pt x="2837403" y="250577"/>
                </a:lnTo>
                <a:lnTo>
                  <a:pt x="2880394" y="375865"/>
                </a:lnTo>
                <a:lnTo>
                  <a:pt x="2966376" y="375865"/>
                </a:lnTo>
                <a:lnTo>
                  <a:pt x="3009367" y="501152"/>
                </a:lnTo>
                <a:lnTo>
                  <a:pt x="3095349" y="501152"/>
                </a:lnTo>
                <a:lnTo>
                  <a:pt x="3181331" y="626440"/>
                </a:lnTo>
                <a:lnTo>
                  <a:pt x="3224321" y="751728"/>
                </a:lnTo>
              </a:path>
            </a:pathLst>
          </a:custGeom>
          <a:noFill/>
          <a:ln w="32623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32"/>
          <p:cNvSpPr/>
          <p:nvPr/>
        </p:nvSpPr>
        <p:spPr>
          <a:xfrm>
            <a:off x="7788409" y="651151"/>
            <a:ext cx="0" cy="47223"/>
          </a:xfrm>
          <a:custGeom>
            <a:avLst/>
            <a:gdLst/>
            <a:ahLst/>
            <a:cxnLst/>
            <a:rect l="l" t="t" r="r" b="b"/>
            <a:pathLst>
              <a:path w="0" h="47223">
                <a:moveTo>
                  <a:pt x="0" y="47223"/>
                </a:moveTo>
                <a:lnTo>
                  <a:pt x="0" y="0"/>
                </a:lnTo>
              </a:path>
            </a:pathLst>
          </a:custGeom>
          <a:noFill/>
          <a:ln w="3495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33"/>
          <p:cNvSpPr/>
          <p:nvPr/>
        </p:nvSpPr>
        <p:spPr>
          <a:xfrm>
            <a:off x="7718501" y="698374"/>
            <a:ext cx="139817" cy="0"/>
          </a:xfrm>
          <a:custGeom>
            <a:avLst/>
            <a:gdLst/>
            <a:ahLst/>
            <a:cxnLst/>
            <a:rect l="l" t="t" r="r" b="b"/>
            <a:pathLst>
              <a:path w="139817" h="0">
                <a:moveTo>
                  <a:pt x="13981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233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34"/>
          <p:cNvSpPr/>
          <p:nvPr/>
        </p:nvSpPr>
        <p:spPr>
          <a:xfrm>
            <a:off x="7718501" y="651151"/>
            <a:ext cx="139817" cy="0"/>
          </a:xfrm>
          <a:custGeom>
            <a:avLst/>
            <a:gdLst/>
            <a:ahLst/>
            <a:cxnLst/>
            <a:rect l="l" t="t" r="r" b="b"/>
            <a:pathLst>
              <a:path w="139817" h="0">
                <a:moveTo>
                  <a:pt x="13981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233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35"/>
          <p:cNvSpPr/>
          <p:nvPr/>
        </p:nvSpPr>
        <p:spPr>
          <a:xfrm>
            <a:off x="7741804" y="604545"/>
            <a:ext cx="93211" cy="93211"/>
          </a:xfrm>
          <a:custGeom>
            <a:avLst/>
            <a:gdLst/>
            <a:ahLst/>
            <a:cxnLst/>
            <a:rect l="l" t="t" r="r" b="b"/>
            <a:pathLst>
              <a:path w="93211" h="93211">
                <a:moveTo>
                  <a:pt x="46605" y="93211"/>
                </a:moveTo>
                <a:lnTo>
                  <a:pt x="49684" y="93110"/>
                </a:lnTo>
                <a:lnTo>
                  <a:pt x="52731" y="92807"/>
                </a:lnTo>
                <a:lnTo>
                  <a:pt x="55740" y="92308"/>
                </a:lnTo>
                <a:lnTo>
                  <a:pt x="58701" y="91615"/>
                </a:lnTo>
                <a:lnTo>
                  <a:pt x="61604" y="90732"/>
                </a:lnTo>
                <a:lnTo>
                  <a:pt x="64441" y="89664"/>
                </a:lnTo>
                <a:lnTo>
                  <a:pt x="67202" y="88413"/>
                </a:lnTo>
                <a:lnTo>
                  <a:pt x="69879" y="86984"/>
                </a:lnTo>
                <a:lnTo>
                  <a:pt x="72463" y="85381"/>
                </a:lnTo>
                <a:lnTo>
                  <a:pt x="74943" y="83607"/>
                </a:lnTo>
                <a:lnTo>
                  <a:pt x="77312" y="81666"/>
                </a:lnTo>
                <a:lnTo>
                  <a:pt x="79561" y="79561"/>
                </a:lnTo>
                <a:lnTo>
                  <a:pt x="81665" y="77313"/>
                </a:lnTo>
                <a:lnTo>
                  <a:pt x="83606" y="74944"/>
                </a:lnTo>
                <a:lnTo>
                  <a:pt x="85381" y="72463"/>
                </a:lnTo>
                <a:lnTo>
                  <a:pt x="86984" y="69879"/>
                </a:lnTo>
                <a:lnTo>
                  <a:pt x="88413" y="67202"/>
                </a:lnTo>
                <a:lnTo>
                  <a:pt x="89663" y="64441"/>
                </a:lnTo>
                <a:lnTo>
                  <a:pt x="90732" y="61604"/>
                </a:lnTo>
                <a:lnTo>
                  <a:pt x="91614" y="58701"/>
                </a:lnTo>
                <a:lnTo>
                  <a:pt x="92307" y="55741"/>
                </a:lnTo>
                <a:lnTo>
                  <a:pt x="92807" y="52732"/>
                </a:lnTo>
                <a:lnTo>
                  <a:pt x="93109" y="49684"/>
                </a:lnTo>
                <a:lnTo>
                  <a:pt x="93211" y="46606"/>
                </a:lnTo>
                <a:lnTo>
                  <a:pt x="93109" y="43528"/>
                </a:lnTo>
                <a:lnTo>
                  <a:pt x="92807" y="40480"/>
                </a:lnTo>
                <a:lnTo>
                  <a:pt x="92307" y="37471"/>
                </a:lnTo>
                <a:lnTo>
                  <a:pt x="91614" y="34511"/>
                </a:lnTo>
                <a:lnTo>
                  <a:pt x="90732" y="31608"/>
                </a:lnTo>
                <a:lnTo>
                  <a:pt x="89663" y="28771"/>
                </a:lnTo>
                <a:lnTo>
                  <a:pt x="88413" y="26009"/>
                </a:lnTo>
                <a:lnTo>
                  <a:pt x="86984" y="23332"/>
                </a:lnTo>
                <a:lnTo>
                  <a:pt x="85381" y="20749"/>
                </a:lnTo>
                <a:lnTo>
                  <a:pt x="83606" y="18268"/>
                </a:lnTo>
                <a:lnTo>
                  <a:pt x="81665" y="15899"/>
                </a:lnTo>
                <a:lnTo>
                  <a:pt x="79561" y="13651"/>
                </a:lnTo>
                <a:lnTo>
                  <a:pt x="77312" y="11546"/>
                </a:lnTo>
                <a:lnTo>
                  <a:pt x="74943" y="9605"/>
                </a:lnTo>
                <a:lnTo>
                  <a:pt x="72463" y="7831"/>
                </a:lnTo>
                <a:lnTo>
                  <a:pt x="69879" y="6227"/>
                </a:lnTo>
                <a:lnTo>
                  <a:pt x="67202" y="4799"/>
                </a:lnTo>
                <a:lnTo>
                  <a:pt x="64441" y="3548"/>
                </a:lnTo>
                <a:lnTo>
                  <a:pt x="61604" y="2480"/>
                </a:lnTo>
                <a:lnTo>
                  <a:pt x="58701" y="1597"/>
                </a:lnTo>
                <a:lnTo>
                  <a:pt x="55740" y="904"/>
                </a:lnTo>
                <a:lnTo>
                  <a:pt x="52731" y="405"/>
                </a:lnTo>
                <a:lnTo>
                  <a:pt x="49684" y="102"/>
                </a:lnTo>
                <a:lnTo>
                  <a:pt x="46605" y="0"/>
                </a:lnTo>
                <a:lnTo>
                  <a:pt x="43528" y="102"/>
                </a:lnTo>
                <a:lnTo>
                  <a:pt x="40480" y="405"/>
                </a:lnTo>
                <a:lnTo>
                  <a:pt x="37471" y="904"/>
                </a:lnTo>
                <a:lnTo>
                  <a:pt x="34511" y="1597"/>
                </a:lnTo>
                <a:lnTo>
                  <a:pt x="31607" y="2480"/>
                </a:lnTo>
                <a:lnTo>
                  <a:pt x="28771" y="3548"/>
                </a:lnTo>
                <a:lnTo>
                  <a:pt x="26009" y="4799"/>
                </a:lnTo>
                <a:lnTo>
                  <a:pt x="23332" y="6227"/>
                </a:lnTo>
                <a:lnTo>
                  <a:pt x="20749" y="7831"/>
                </a:lnTo>
                <a:lnTo>
                  <a:pt x="18268" y="9605"/>
                </a:lnTo>
                <a:lnTo>
                  <a:pt x="15899" y="11546"/>
                </a:lnTo>
                <a:lnTo>
                  <a:pt x="13650" y="13651"/>
                </a:lnTo>
                <a:lnTo>
                  <a:pt x="11546" y="15899"/>
                </a:lnTo>
                <a:lnTo>
                  <a:pt x="9605" y="18268"/>
                </a:lnTo>
                <a:lnTo>
                  <a:pt x="7831" y="20749"/>
                </a:lnTo>
                <a:lnTo>
                  <a:pt x="6227" y="23332"/>
                </a:lnTo>
                <a:lnTo>
                  <a:pt x="4798" y="26009"/>
                </a:lnTo>
                <a:lnTo>
                  <a:pt x="3548" y="28771"/>
                </a:lnTo>
                <a:lnTo>
                  <a:pt x="2479" y="31608"/>
                </a:lnTo>
                <a:lnTo>
                  <a:pt x="1597" y="34511"/>
                </a:lnTo>
                <a:lnTo>
                  <a:pt x="904" y="37471"/>
                </a:lnTo>
                <a:lnTo>
                  <a:pt x="404" y="40480"/>
                </a:lnTo>
                <a:lnTo>
                  <a:pt x="102" y="43528"/>
                </a:lnTo>
                <a:lnTo>
                  <a:pt x="0" y="46606"/>
                </a:lnTo>
                <a:lnTo>
                  <a:pt x="102" y="49684"/>
                </a:lnTo>
                <a:lnTo>
                  <a:pt x="404" y="52732"/>
                </a:lnTo>
                <a:lnTo>
                  <a:pt x="904" y="55741"/>
                </a:lnTo>
                <a:lnTo>
                  <a:pt x="1597" y="58701"/>
                </a:lnTo>
                <a:lnTo>
                  <a:pt x="2479" y="61604"/>
                </a:lnTo>
                <a:lnTo>
                  <a:pt x="3548" y="64441"/>
                </a:lnTo>
                <a:lnTo>
                  <a:pt x="4798" y="67202"/>
                </a:lnTo>
                <a:lnTo>
                  <a:pt x="6227" y="69879"/>
                </a:lnTo>
                <a:lnTo>
                  <a:pt x="7831" y="72463"/>
                </a:lnTo>
                <a:lnTo>
                  <a:pt x="9605" y="74944"/>
                </a:lnTo>
                <a:lnTo>
                  <a:pt x="11546" y="77313"/>
                </a:lnTo>
                <a:lnTo>
                  <a:pt x="13650" y="79561"/>
                </a:lnTo>
                <a:lnTo>
                  <a:pt x="15899" y="81666"/>
                </a:lnTo>
                <a:lnTo>
                  <a:pt x="18268" y="83607"/>
                </a:lnTo>
                <a:lnTo>
                  <a:pt x="20749" y="85381"/>
                </a:lnTo>
                <a:lnTo>
                  <a:pt x="23332" y="86984"/>
                </a:lnTo>
                <a:lnTo>
                  <a:pt x="26009" y="88413"/>
                </a:lnTo>
                <a:lnTo>
                  <a:pt x="28771" y="89664"/>
                </a:lnTo>
                <a:lnTo>
                  <a:pt x="31607" y="90732"/>
                </a:lnTo>
                <a:lnTo>
                  <a:pt x="34511" y="91615"/>
                </a:lnTo>
                <a:lnTo>
                  <a:pt x="37471" y="92308"/>
                </a:lnTo>
                <a:lnTo>
                  <a:pt x="40480" y="92807"/>
                </a:lnTo>
                <a:lnTo>
                  <a:pt x="43528" y="93110"/>
                </a:lnTo>
                <a:lnTo>
                  <a:pt x="46605" y="93211"/>
                </a:lnTo>
                <a:close/>
              </a:path>
            </a:pathLst>
          </a:custGeom>
          <a:solidFill>
            <a:srgbClr val="FF9500"/>
          </a:solidFill>
          <a:ln w="233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36"/>
          <p:cNvSpPr/>
          <p:nvPr/>
        </p:nvSpPr>
        <p:spPr>
          <a:xfrm>
            <a:off x="4349133" y="450690"/>
            <a:ext cx="0" cy="2781393"/>
          </a:xfrm>
          <a:custGeom>
            <a:avLst/>
            <a:gdLst/>
            <a:ahLst/>
            <a:cxnLst/>
            <a:rect l="l" t="t" r="r" b="b"/>
            <a:pathLst>
              <a:path w="0" h="2781393">
                <a:moveTo>
                  <a:pt x="0" y="2781393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37"/>
          <p:cNvSpPr/>
          <p:nvPr/>
        </p:nvSpPr>
        <p:spPr>
          <a:xfrm>
            <a:off x="4349133" y="3232083"/>
            <a:ext cx="3694535" cy="0"/>
          </a:xfrm>
          <a:custGeom>
            <a:avLst/>
            <a:gdLst/>
            <a:ahLst/>
            <a:cxnLst/>
            <a:rect l="l" t="t" r="r" b="b"/>
            <a:pathLst>
              <a:path w="3694535" h="0">
                <a:moveTo>
                  <a:pt x="0" y="0"/>
                </a:moveTo>
                <a:lnTo>
                  <a:pt x="3694535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38"/>
          <p:cNvSpPr/>
          <p:nvPr/>
        </p:nvSpPr>
        <p:spPr>
          <a:xfrm>
            <a:off x="7303905" y="673888"/>
            <a:ext cx="443754" cy="247601"/>
          </a:xfrm>
          <a:custGeom>
            <a:avLst/>
            <a:gdLst/>
            <a:ahLst/>
            <a:cxnLst/>
            <a:rect l="l" t="t" r="r" b="b"/>
            <a:pathLst>
              <a:path w="443754" h="247601">
                <a:moveTo>
                  <a:pt x="0" y="247601"/>
                </a:moveTo>
                <a:lnTo>
                  <a:pt x="36979" y="226967"/>
                </a:lnTo>
                <a:lnTo>
                  <a:pt x="73959" y="206334"/>
                </a:lnTo>
                <a:lnTo>
                  <a:pt x="110938" y="185701"/>
                </a:lnTo>
                <a:lnTo>
                  <a:pt x="147918" y="165067"/>
                </a:lnTo>
                <a:lnTo>
                  <a:pt x="184898" y="144434"/>
                </a:lnTo>
                <a:lnTo>
                  <a:pt x="221877" y="123800"/>
                </a:lnTo>
                <a:lnTo>
                  <a:pt x="258857" y="103167"/>
                </a:lnTo>
                <a:lnTo>
                  <a:pt x="295836" y="82534"/>
                </a:lnTo>
                <a:lnTo>
                  <a:pt x="332816" y="61900"/>
                </a:lnTo>
                <a:lnTo>
                  <a:pt x="369795" y="41267"/>
                </a:lnTo>
                <a:lnTo>
                  <a:pt x="406775" y="20633"/>
                </a:lnTo>
                <a:lnTo>
                  <a:pt x="443754" y="0"/>
                </a:lnTo>
              </a:path>
            </a:pathLst>
          </a:custGeom>
          <a:noFill/>
          <a:ln w="16311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80809" y="968645"/>
            <a:ext cx="575484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200/200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5529" y="148715"/>
            <a:ext cx="2810663" cy="237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9" b="0" i="0">
                <a:solidFill>
                  <a:srgbClr val="2B2B2B"/>
                </a:solidFill>
                <a:latin typeface="Times New Roman"/>
              </a:rPr>
              <a:t>(b) Learning and frozen evaluation</a:t>
            </a:r>
          </a:p>
        </p:txBody>
      </p:sp>
      <p:sp>
        <p:nvSpPr>
          <p:cNvPr id="70" name="Editable path 39"/>
          <p:cNvSpPr/>
          <p:nvPr/>
        </p:nvSpPr>
        <p:spPr>
          <a:xfrm>
            <a:off x="4474968" y="1741148"/>
            <a:ext cx="279633" cy="0"/>
          </a:xfrm>
          <a:custGeom>
            <a:avLst/>
            <a:gdLst/>
            <a:ahLst/>
            <a:cxnLst/>
            <a:rect l="l" t="t" r="r" b="b"/>
            <a:pathLst>
              <a:path w="279633" h="0">
                <a:moveTo>
                  <a:pt x="0" y="0"/>
                </a:moveTo>
                <a:lnTo>
                  <a:pt x="139816" y="0"/>
                </a:lnTo>
                <a:lnTo>
                  <a:pt x="279633" y="0"/>
                </a:lnTo>
              </a:path>
            </a:pathLst>
          </a:custGeom>
          <a:noFill/>
          <a:ln w="32623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66454" y="1587979"/>
            <a:ext cx="1079663" cy="167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Stochastic training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66454" y="1733039"/>
            <a:ext cx="1013530" cy="167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(last 20 episodes)</a:t>
            </a:r>
          </a:p>
        </p:txBody>
      </p:sp>
      <p:sp>
        <p:nvSpPr>
          <p:cNvPr id="73" name="Editable path 40"/>
          <p:cNvSpPr/>
          <p:nvPr/>
        </p:nvSpPr>
        <p:spPr>
          <a:xfrm>
            <a:off x="4614784" y="1926660"/>
            <a:ext cx="0" cy="139817"/>
          </a:xfrm>
          <a:custGeom>
            <a:avLst/>
            <a:gdLst/>
            <a:ahLst/>
            <a:cxnLst/>
            <a:rect l="l" t="t" r="r" b="b"/>
            <a:pathLst>
              <a:path w="0" h="139817">
                <a:moveTo>
                  <a:pt x="0" y="139817"/>
                </a:moveTo>
                <a:lnTo>
                  <a:pt x="0" y="0"/>
                </a:lnTo>
              </a:path>
            </a:pathLst>
          </a:custGeom>
          <a:noFill/>
          <a:ln w="3495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41"/>
          <p:cNvSpPr/>
          <p:nvPr/>
        </p:nvSpPr>
        <p:spPr>
          <a:xfrm>
            <a:off x="4544876" y="2066477"/>
            <a:ext cx="139817" cy="0"/>
          </a:xfrm>
          <a:custGeom>
            <a:avLst/>
            <a:gdLst/>
            <a:ahLst/>
            <a:cxnLst/>
            <a:rect l="l" t="t" r="r" b="b"/>
            <a:pathLst>
              <a:path w="139817" h="0">
                <a:moveTo>
                  <a:pt x="13981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233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42"/>
          <p:cNvSpPr/>
          <p:nvPr/>
        </p:nvSpPr>
        <p:spPr>
          <a:xfrm>
            <a:off x="4544876" y="1926660"/>
            <a:ext cx="139817" cy="0"/>
          </a:xfrm>
          <a:custGeom>
            <a:avLst/>
            <a:gdLst/>
            <a:ahLst/>
            <a:cxnLst/>
            <a:rect l="l" t="t" r="r" b="b"/>
            <a:pathLst>
              <a:path w="139817" h="0">
                <a:moveTo>
                  <a:pt x="13981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233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43"/>
          <p:cNvSpPr/>
          <p:nvPr/>
        </p:nvSpPr>
        <p:spPr>
          <a:xfrm>
            <a:off x="4568179" y="1949963"/>
            <a:ext cx="93211" cy="93211"/>
          </a:xfrm>
          <a:custGeom>
            <a:avLst/>
            <a:gdLst/>
            <a:ahLst/>
            <a:cxnLst/>
            <a:rect l="l" t="t" r="r" b="b"/>
            <a:pathLst>
              <a:path w="93211" h="93211">
                <a:moveTo>
                  <a:pt x="46605" y="93211"/>
                </a:moveTo>
                <a:lnTo>
                  <a:pt x="49683" y="93109"/>
                </a:lnTo>
                <a:lnTo>
                  <a:pt x="52731" y="92807"/>
                </a:lnTo>
                <a:lnTo>
                  <a:pt x="55740" y="92307"/>
                </a:lnTo>
                <a:lnTo>
                  <a:pt x="58700" y="91614"/>
                </a:lnTo>
                <a:lnTo>
                  <a:pt x="61604" y="90732"/>
                </a:lnTo>
                <a:lnTo>
                  <a:pt x="64440" y="89663"/>
                </a:lnTo>
                <a:lnTo>
                  <a:pt x="67202" y="88413"/>
                </a:lnTo>
                <a:lnTo>
                  <a:pt x="69879" y="86984"/>
                </a:lnTo>
                <a:lnTo>
                  <a:pt x="72462" y="85381"/>
                </a:lnTo>
                <a:lnTo>
                  <a:pt x="74943" y="83606"/>
                </a:lnTo>
                <a:lnTo>
                  <a:pt x="77312" y="81665"/>
                </a:lnTo>
                <a:lnTo>
                  <a:pt x="79561" y="79561"/>
                </a:lnTo>
                <a:lnTo>
                  <a:pt x="81665" y="77312"/>
                </a:lnTo>
                <a:lnTo>
                  <a:pt x="83606" y="74943"/>
                </a:lnTo>
                <a:lnTo>
                  <a:pt x="85380" y="72462"/>
                </a:lnTo>
                <a:lnTo>
                  <a:pt x="86984" y="69879"/>
                </a:lnTo>
                <a:lnTo>
                  <a:pt x="88413" y="67202"/>
                </a:lnTo>
                <a:lnTo>
                  <a:pt x="89663" y="64441"/>
                </a:lnTo>
                <a:lnTo>
                  <a:pt x="90732" y="61604"/>
                </a:lnTo>
                <a:lnTo>
                  <a:pt x="91614" y="58701"/>
                </a:lnTo>
                <a:lnTo>
                  <a:pt x="92307" y="55740"/>
                </a:lnTo>
                <a:lnTo>
                  <a:pt x="92807" y="52731"/>
                </a:lnTo>
                <a:lnTo>
                  <a:pt x="93109" y="49684"/>
                </a:lnTo>
                <a:lnTo>
                  <a:pt x="93211" y="46606"/>
                </a:lnTo>
                <a:lnTo>
                  <a:pt x="93109" y="43528"/>
                </a:lnTo>
                <a:lnTo>
                  <a:pt x="92807" y="40480"/>
                </a:lnTo>
                <a:lnTo>
                  <a:pt x="92307" y="37471"/>
                </a:lnTo>
                <a:lnTo>
                  <a:pt x="91614" y="34511"/>
                </a:lnTo>
                <a:lnTo>
                  <a:pt x="90732" y="31607"/>
                </a:lnTo>
                <a:lnTo>
                  <a:pt x="89663" y="28770"/>
                </a:lnTo>
                <a:lnTo>
                  <a:pt x="88413" y="26009"/>
                </a:lnTo>
                <a:lnTo>
                  <a:pt x="86984" y="23332"/>
                </a:lnTo>
                <a:lnTo>
                  <a:pt x="85380" y="20749"/>
                </a:lnTo>
                <a:lnTo>
                  <a:pt x="83606" y="18268"/>
                </a:lnTo>
                <a:lnTo>
                  <a:pt x="81665" y="15899"/>
                </a:lnTo>
                <a:lnTo>
                  <a:pt x="79561" y="13650"/>
                </a:lnTo>
                <a:lnTo>
                  <a:pt x="77312" y="11546"/>
                </a:lnTo>
                <a:lnTo>
                  <a:pt x="74943" y="9605"/>
                </a:lnTo>
                <a:lnTo>
                  <a:pt x="72462" y="7831"/>
                </a:lnTo>
                <a:lnTo>
                  <a:pt x="69879" y="6227"/>
                </a:lnTo>
                <a:lnTo>
                  <a:pt x="67202" y="4798"/>
                </a:lnTo>
                <a:lnTo>
                  <a:pt x="64440" y="3548"/>
                </a:lnTo>
                <a:lnTo>
                  <a:pt x="61604" y="2479"/>
                </a:lnTo>
                <a:lnTo>
                  <a:pt x="58700" y="1597"/>
                </a:lnTo>
                <a:lnTo>
                  <a:pt x="55740" y="904"/>
                </a:lnTo>
                <a:lnTo>
                  <a:pt x="52731" y="404"/>
                </a:lnTo>
                <a:lnTo>
                  <a:pt x="49683" y="102"/>
                </a:lnTo>
                <a:lnTo>
                  <a:pt x="46605" y="0"/>
                </a:lnTo>
                <a:lnTo>
                  <a:pt x="43527" y="102"/>
                </a:lnTo>
                <a:lnTo>
                  <a:pt x="40480" y="404"/>
                </a:lnTo>
                <a:lnTo>
                  <a:pt x="37471" y="904"/>
                </a:lnTo>
                <a:lnTo>
                  <a:pt x="34510" y="1597"/>
                </a:lnTo>
                <a:lnTo>
                  <a:pt x="31607" y="2479"/>
                </a:lnTo>
                <a:lnTo>
                  <a:pt x="28770" y="3548"/>
                </a:lnTo>
                <a:lnTo>
                  <a:pt x="26009" y="4798"/>
                </a:lnTo>
                <a:lnTo>
                  <a:pt x="23332" y="6227"/>
                </a:lnTo>
                <a:lnTo>
                  <a:pt x="20748" y="7831"/>
                </a:lnTo>
                <a:lnTo>
                  <a:pt x="18268" y="9605"/>
                </a:lnTo>
                <a:lnTo>
                  <a:pt x="15899" y="11546"/>
                </a:lnTo>
                <a:lnTo>
                  <a:pt x="13650" y="13650"/>
                </a:lnTo>
                <a:lnTo>
                  <a:pt x="11546" y="15899"/>
                </a:lnTo>
                <a:lnTo>
                  <a:pt x="9604" y="18268"/>
                </a:lnTo>
                <a:lnTo>
                  <a:pt x="7830" y="20749"/>
                </a:lnTo>
                <a:lnTo>
                  <a:pt x="6227" y="23332"/>
                </a:lnTo>
                <a:lnTo>
                  <a:pt x="4798" y="26009"/>
                </a:lnTo>
                <a:lnTo>
                  <a:pt x="3548" y="28770"/>
                </a:lnTo>
                <a:lnTo>
                  <a:pt x="2479" y="31607"/>
                </a:lnTo>
                <a:lnTo>
                  <a:pt x="1597" y="34511"/>
                </a:lnTo>
                <a:lnTo>
                  <a:pt x="904" y="37471"/>
                </a:lnTo>
                <a:lnTo>
                  <a:pt x="404" y="40480"/>
                </a:lnTo>
                <a:lnTo>
                  <a:pt x="102" y="43528"/>
                </a:lnTo>
                <a:lnTo>
                  <a:pt x="0" y="46606"/>
                </a:lnTo>
                <a:lnTo>
                  <a:pt x="102" y="49684"/>
                </a:lnTo>
                <a:lnTo>
                  <a:pt x="404" y="52731"/>
                </a:lnTo>
                <a:lnTo>
                  <a:pt x="904" y="55740"/>
                </a:lnTo>
                <a:lnTo>
                  <a:pt x="1597" y="58701"/>
                </a:lnTo>
                <a:lnTo>
                  <a:pt x="2479" y="61604"/>
                </a:lnTo>
                <a:lnTo>
                  <a:pt x="3548" y="64441"/>
                </a:lnTo>
                <a:lnTo>
                  <a:pt x="4798" y="67202"/>
                </a:lnTo>
                <a:lnTo>
                  <a:pt x="6227" y="69879"/>
                </a:lnTo>
                <a:lnTo>
                  <a:pt x="7830" y="72462"/>
                </a:lnTo>
                <a:lnTo>
                  <a:pt x="9604" y="74943"/>
                </a:lnTo>
                <a:lnTo>
                  <a:pt x="11546" y="77312"/>
                </a:lnTo>
                <a:lnTo>
                  <a:pt x="13650" y="79561"/>
                </a:lnTo>
                <a:lnTo>
                  <a:pt x="15899" y="81665"/>
                </a:lnTo>
                <a:lnTo>
                  <a:pt x="18268" y="83606"/>
                </a:lnTo>
                <a:lnTo>
                  <a:pt x="20748" y="85381"/>
                </a:lnTo>
                <a:lnTo>
                  <a:pt x="23332" y="86984"/>
                </a:lnTo>
                <a:lnTo>
                  <a:pt x="26009" y="88413"/>
                </a:lnTo>
                <a:lnTo>
                  <a:pt x="28770" y="89663"/>
                </a:lnTo>
                <a:lnTo>
                  <a:pt x="31607" y="90732"/>
                </a:lnTo>
                <a:lnTo>
                  <a:pt x="34510" y="91614"/>
                </a:lnTo>
                <a:lnTo>
                  <a:pt x="37471" y="92307"/>
                </a:lnTo>
                <a:lnTo>
                  <a:pt x="40480" y="92807"/>
                </a:lnTo>
                <a:lnTo>
                  <a:pt x="43527" y="93109"/>
                </a:lnTo>
                <a:lnTo>
                  <a:pt x="46605" y="93211"/>
                </a:lnTo>
                <a:close/>
              </a:path>
            </a:pathLst>
          </a:custGeom>
          <a:solidFill>
            <a:srgbClr val="FF9500"/>
          </a:solidFill>
          <a:ln w="233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66454" y="1931039"/>
            <a:ext cx="1145518" cy="167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Nominal frozen test</a:t>
            </a:r>
          </a:p>
        </p:txBody>
      </p:sp>
      <p:sp>
        <p:nvSpPr>
          <p:cNvPr id="78" name="Editable path 44"/>
          <p:cNvSpPr/>
          <p:nvPr/>
        </p:nvSpPr>
        <p:spPr>
          <a:xfrm>
            <a:off x="8811579" y="450690"/>
            <a:ext cx="3212640" cy="2781393"/>
          </a:xfrm>
          <a:custGeom>
            <a:avLst/>
            <a:gdLst/>
            <a:ahLst/>
            <a:cxnLst/>
            <a:rect l="l" t="t" r="r" b="b"/>
            <a:pathLst>
              <a:path w="3212640" h="2781393">
                <a:moveTo>
                  <a:pt x="0" y="0"/>
                </a:moveTo>
                <a:lnTo>
                  <a:pt x="3212640" y="0"/>
                </a:lnTo>
                <a:lnTo>
                  <a:pt x="3212640" y="2781393"/>
                </a:lnTo>
                <a:lnTo>
                  <a:pt x="0" y="2781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45"/>
          <p:cNvSpPr/>
          <p:nvPr/>
        </p:nvSpPr>
        <p:spPr>
          <a:xfrm>
            <a:off x="8811579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70798" y="337307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81" name="Editable path 46"/>
          <p:cNvSpPr/>
          <p:nvPr/>
        </p:nvSpPr>
        <p:spPr>
          <a:xfrm>
            <a:off x="9525499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443939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83" name="Editable path 47"/>
          <p:cNvSpPr/>
          <p:nvPr/>
        </p:nvSpPr>
        <p:spPr>
          <a:xfrm>
            <a:off x="10239419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57859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85" name="Editable path 48"/>
          <p:cNvSpPr/>
          <p:nvPr/>
        </p:nvSpPr>
        <p:spPr>
          <a:xfrm>
            <a:off x="10953339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871778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87" name="Editable path 49"/>
          <p:cNvSpPr/>
          <p:nvPr/>
        </p:nvSpPr>
        <p:spPr>
          <a:xfrm>
            <a:off x="11667259" y="323208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585699" y="337307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17753" y="3609966"/>
            <a:ext cx="2247132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Terminal position error (mm)</a:t>
            </a:r>
          </a:p>
        </p:txBody>
      </p:sp>
      <p:sp>
        <p:nvSpPr>
          <p:cNvPr id="90" name="Editable path 50"/>
          <p:cNvSpPr/>
          <p:nvPr/>
        </p:nvSpPr>
        <p:spPr>
          <a:xfrm>
            <a:off x="8811579" y="3232083"/>
            <a:ext cx="3212640" cy="0"/>
          </a:xfrm>
          <a:custGeom>
            <a:avLst/>
            <a:gdLst/>
            <a:ahLst/>
            <a:cxnLst/>
            <a:rect l="l" t="t" r="r" b="b"/>
            <a:pathLst>
              <a:path w="3212640" h="0">
                <a:moveTo>
                  <a:pt x="0" y="0"/>
                </a:moveTo>
                <a:lnTo>
                  <a:pt x="3212640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51"/>
          <p:cNvSpPr/>
          <p:nvPr/>
        </p:nvSpPr>
        <p:spPr>
          <a:xfrm>
            <a:off x="8730019" y="3232083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44560" y="3154249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0.0</a:t>
            </a:r>
          </a:p>
        </p:txBody>
      </p:sp>
      <p:sp>
        <p:nvSpPr>
          <p:cNvPr id="93" name="Editable path 52"/>
          <p:cNvSpPr/>
          <p:nvPr/>
        </p:nvSpPr>
        <p:spPr>
          <a:xfrm>
            <a:off x="8811579" y="2702294"/>
            <a:ext cx="3212640" cy="0"/>
          </a:xfrm>
          <a:custGeom>
            <a:avLst/>
            <a:gdLst/>
            <a:ahLst/>
            <a:cxnLst/>
            <a:rect l="l" t="t" r="r" b="b"/>
            <a:pathLst>
              <a:path w="3212640" h="0">
                <a:moveTo>
                  <a:pt x="0" y="0"/>
                </a:moveTo>
                <a:lnTo>
                  <a:pt x="3212640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path 53"/>
          <p:cNvSpPr/>
          <p:nvPr/>
        </p:nvSpPr>
        <p:spPr>
          <a:xfrm>
            <a:off x="8730019" y="2702294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44560" y="2624460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0.2</a:t>
            </a:r>
          </a:p>
        </p:txBody>
      </p:sp>
      <p:sp>
        <p:nvSpPr>
          <p:cNvPr id="96" name="Editable path 54"/>
          <p:cNvSpPr/>
          <p:nvPr/>
        </p:nvSpPr>
        <p:spPr>
          <a:xfrm>
            <a:off x="8811579" y="2172505"/>
            <a:ext cx="3212640" cy="0"/>
          </a:xfrm>
          <a:custGeom>
            <a:avLst/>
            <a:gdLst/>
            <a:ahLst/>
            <a:cxnLst/>
            <a:rect l="l" t="t" r="r" b="b"/>
            <a:pathLst>
              <a:path w="3212640" h="0">
                <a:moveTo>
                  <a:pt x="0" y="0"/>
                </a:moveTo>
                <a:lnTo>
                  <a:pt x="3212640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path 55"/>
          <p:cNvSpPr/>
          <p:nvPr/>
        </p:nvSpPr>
        <p:spPr>
          <a:xfrm>
            <a:off x="8730019" y="2172505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44560" y="2094671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0.4</a:t>
            </a:r>
          </a:p>
        </p:txBody>
      </p:sp>
      <p:sp>
        <p:nvSpPr>
          <p:cNvPr id="99" name="Editable path 56"/>
          <p:cNvSpPr/>
          <p:nvPr/>
        </p:nvSpPr>
        <p:spPr>
          <a:xfrm>
            <a:off x="8811579" y="1642716"/>
            <a:ext cx="3212640" cy="0"/>
          </a:xfrm>
          <a:custGeom>
            <a:avLst/>
            <a:gdLst/>
            <a:ahLst/>
            <a:cxnLst/>
            <a:rect l="l" t="t" r="r" b="b"/>
            <a:pathLst>
              <a:path w="3212640" h="0">
                <a:moveTo>
                  <a:pt x="0" y="0"/>
                </a:moveTo>
                <a:lnTo>
                  <a:pt x="3212640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57"/>
          <p:cNvSpPr/>
          <p:nvPr/>
        </p:nvSpPr>
        <p:spPr>
          <a:xfrm>
            <a:off x="8730019" y="1642716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44560" y="1564882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0.6</a:t>
            </a:r>
          </a:p>
        </p:txBody>
      </p:sp>
      <p:sp>
        <p:nvSpPr>
          <p:cNvPr id="102" name="Editable path 58"/>
          <p:cNvSpPr/>
          <p:nvPr/>
        </p:nvSpPr>
        <p:spPr>
          <a:xfrm>
            <a:off x="8811579" y="1112927"/>
            <a:ext cx="3212640" cy="0"/>
          </a:xfrm>
          <a:custGeom>
            <a:avLst/>
            <a:gdLst/>
            <a:ahLst/>
            <a:cxnLst/>
            <a:rect l="l" t="t" r="r" b="b"/>
            <a:pathLst>
              <a:path w="3212640" h="0">
                <a:moveTo>
                  <a:pt x="0" y="0"/>
                </a:moveTo>
                <a:lnTo>
                  <a:pt x="3212640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path 59"/>
          <p:cNvSpPr/>
          <p:nvPr/>
        </p:nvSpPr>
        <p:spPr>
          <a:xfrm>
            <a:off x="8730019" y="1112927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44560" y="1035093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0.8</a:t>
            </a:r>
          </a:p>
        </p:txBody>
      </p:sp>
      <p:sp>
        <p:nvSpPr>
          <p:cNvPr id="105" name="Editable path 60"/>
          <p:cNvSpPr/>
          <p:nvPr/>
        </p:nvSpPr>
        <p:spPr>
          <a:xfrm>
            <a:off x="8811579" y="583137"/>
            <a:ext cx="3212640" cy="0"/>
          </a:xfrm>
          <a:custGeom>
            <a:avLst/>
            <a:gdLst/>
            <a:ahLst/>
            <a:cxnLst/>
            <a:rect l="l" t="t" r="r" b="b"/>
            <a:pathLst>
              <a:path w="3212640" h="0">
                <a:moveTo>
                  <a:pt x="0" y="0"/>
                </a:moveTo>
                <a:lnTo>
                  <a:pt x="3212640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path 61"/>
          <p:cNvSpPr/>
          <p:nvPr/>
        </p:nvSpPr>
        <p:spPr>
          <a:xfrm>
            <a:off x="8730019" y="583137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44560" y="505303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1.0</a:t>
            </a:r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7489430" y="1725624"/>
            <a:ext cx="1615534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Fraction of 200 trials</a:t>
            </a:r>
          </a:p>
        </p:txBody>
      </p:sp>
      <p:sp>
        <p:nvSpPr>
          <p:cNvPr id="109" name="Editable path 62"/>
          <p:cNvSpPr/>
          <p:nvPr/>
        </p:nvSpPr>
        <p:spPr>
          <a:xfrm>
            <a:off x="8897721" y="583137"/>
            <a:ext cx="1026493" cy="2635702"/>
          </a:xfrm>
          <a:custGeom>
            <a:avLst/>
            <a:gdLst/>
            <a:ahLst/>
            <a:cxnLst/>
            <a:rect l="l" t="t" r="r" b="b"/>
            <a:pathLst>
              <a:path w="1026493" h="2635702">
                <a:moveTo>
                  <a:pt x="0" y="2635702"/>
                </a:moveTo>
                <a:lnTo>
                  <a:pt x="17843" y="2635702"/>
                </a:lnTo>
                <a:lnTo>
                  <a:pt x="17843" y="2622457"/>
                </a:lnTo>
                <a:lnTo>
                  <a:pt x="46530" y="2622457"/>
                </a:lnTo>
                <a:lnTo>
                  <a:pt x="46530" y="2609212"/>
                </a:lnTo>
                <a:lnTo>
                  <a:pt x="69137" y="2609212"/>
                </a:lnTo>
                <a:lnTo>
                  <a:pt x="69137" y="2595967"/>
                </a:lnTo>
                <a:lnTo>
                  <a:pt x="78812" y="2595967"/>
                </a:lnTo>
                <a:lnTo>
                  <a:pt x="78812" y="2582722"/>
                </a:lnTo>
                <a:lnTo>
                  <a:pt x="105764" y="2582722"/>
                </a:lnTo>
                <a:lnTo>
                  <a:pt x="105764" y="2569478"/>
                </a:lnTo>
                <a:lnTo>
                  <a:pt x="118172" y="2569478"/>
                </a:lnTo>
                <a:lnTo>
                  <a:pt x="118172" y="2556233"/>
                </a:lnTo>
                <a:lnTo>
                  <a:pt x="149863" y="2556233"/>
                </a:lnTo>
                <a:lnTo>
                  <a:pt x="149863" y="2542988"/>
                </a:lnTo>
                <a:lnTo>
                  <a:pt x="157046" y="2542988"/>
                </a:lnTo>
                <a:lnTo>
                  <a:pt x="157046" y="2529744"/>
                </a:lnTo>
                <a:lnTo>
                  <a:pt x="183734" y="2529744"/>
                </a:lnTo>
                <a:lnTo>
                  <a:pt x="183734" y="2516499"/>
                </a:lnTo>
                <a:lnTo>
                  <a:pt x="190801" y="2516499"/>
                </a:lnTo>
                <a:lnTo>
                  <a:pt x="190801" y="2503254"/>
                </a:lnTo>
                <a:lnTo>
                  <a:pt x="239134" y="2503254"/>
                </a:lnTo>
                <a:lnTo>
                  <a:pt x="239134" y="2490009"/>
                </a:lnTo>
                <a:lnTo>
                  <a:pt x="276859" y="2490009"/>
                </a:lnTo>
                <a:lnTo>
                  <a:pt x="276859" y="2476765"/>
                </a:lnTo>
                <a:lnTo>
                  <a:pt x="394106" y="2476765"/>
                </a:lnTo>
                <a:lnTo>
                  <a:pt x="394106" y="2463520"/>
                </a:lnTo>
                <a:lnTo>
                  <a:pt x="446202" y="2463520"/>
                </a:lnTo>
                <a:lnTo>
                  <a:pt x="446202" y="2450275"/>
                </a:lnTo>
                <a:lnTo>
                  <a:pt x="481497" y="2450275"/>
                </a:lnTo>
                <a:lnTo>
                  <a:pt x="481497" y="2437031"/>
                </a:lnTo>
                <a:lnTo>
                  <a:pt x="502332" y="2437031"/>
                </a:lnTo>
                <a:lnTo>
                  <a:pt x="502332" y="2423786"/>
                </a:lnTo>
                <a:lnTo>
                  <a:pt x="547099" y="2423786"/>
                </a:lnTo>
                <a:lnTo>
                  <a:pt x="549684" y="2397296"/>
                </a:lnTo>
                <a:lnTo>
                  <a:pt x="562100" y="2397296"/>
                </a:lnTo>
                <a:lnTo>
                  <a:pt x="562100" y="2384052"/>
                </a:lnTo>
                <a:lnTo>
                  <a:pt x="633196" y="2384052"/>
                </a:lnTo>
                <a:lnTo>
                  <a:pt x="634196" y="2357562"/>
                </a:lnTo>
                <a:lnTo>
                  <a:pt x="711173" y="2357562"/>
                </a:lnTo>
                <a:lnTo>
                  <a:pt x="711173" y="2344317"/>
                </a:lnTo>
                <a:lnTo>
                  <a:pt x="806362" y="2344317"/>
                </a:lnTo>
                <a:lnTo>
                  <a:pt x="806362" y="2331073"/>
                </a:lnTo>
                <a:lnTo>
                  <a:pt x="875598" y="2331073"/>
                </a:lnTo>
                <a:lnTo>
                  <a:pt x="875598" y="2317828"/>
                </a:lnTo>
                <a:lnTo>
                  <a:pt x="893764" y="2317828"/>
                </a:lnTo>
                <a:lnTo>
                  <a:pt x="893764" y="2304583"/>
                </a:lnTo>
                <a:lnTo>
                  <a:pt x="901395" y="2304583"/>
                </a:lnTo>
                <a:lnTo>
                  <a:pt x="901395" y="2291339"/>
                </a:lnTo>
                <a:lnTo>
                  <a:pt x="907003" y="2291339"/>
                </a:lnTo>
                <a:lnTo>
                  <a:pt x="907003" y="2278094"/>
                </a:lnTo>
                <a:lnTo>
                  <a:pt x="911198" y="2278094"/>
                </a:lnTo>
                <a:lnTo>
                  <a:pt x="912808" y="2238360"/>
                </a:lnTo>
                <a:lnTo>
                  <a:pt x="919197" y="2238360"/>
                </a:lnTo>
                <a:lnTo>
                  <a:pt x="919716" y="2211870"/>
                </a:lnTo>
                <a:lnTo>
                  <a:pt x="922080" y="2211870"/>
                </a:lnTo>
                <a:lnTo>
                  <a:pt x="922080" y="2198625"/>
                </a:lnTo>
                <a:lnTo>
                  <a:pt x="926312" y="2198625"/>
                </a:lnTo>
                <a:lnTo>
                  <a:pt x="926312" y="2185381"/>
                </a:lnTo>
                <a:lnTo>
                  <a:pt x="930690" y="2185381"/>
                </a:lnTo>
                <a:lnTo>
                  <a:pt x="931135" y="2158891"/>
                </a:lnTo>
                <a:lnTo>
                  <a:pt x="933583" y="2158891"/>
                </a:lnTo>
                <a:lnTo>
                  <a:pt x="935189" y="2105912"/>
                </a:lnTo>
                <a:lnTo>
                  <a:pt x="937829" y="2105912"/>
                </a:lnTo>
                <a:lnTo>
                  <a:pt x="937829" y="2092668"/>
                </a:lnTo>
                <a:lnTo>
                  <a:pt x="940827" y="2092668"/>
                </a:lnTo>
                <a:lnTo>
                  <a:pt x="943112" y="1999954"/>
                </a:lnTo>
                <a:lnTo>
                  <a:pt x="945096" y="1999954"/>
                </a:lnTo>
                <a:lnTo>
                  <a:pt x="947553" y="1854262"/>
                </a:lnTo>
                <a:lnTo>
                  <a:pt x="949456" y="1854262"/>
                </a:lnTo>
                <a:lnTo>
                  <a:pt x="951879" y="1801284"/>
                </a:lnTo>
                <a:lnTo>
                  <a:pt x="954730" y="1801284"/>
                </a:lnTo>
                <a:lnTo>
                  <a:pt x="956697" y="1735060"/>
                </a:lnTo>
                <a:lnTo>
                  <a:pt x="957854" y="1735060"/>
                </a:lnTo>
                <a:lnTo>
                  <a:pt x="960442" y="1655591"/>
                </a:lnTo>
                <a:lnTo>
                  <a:pt x="960762" y="1655591"/>
                </a:lnTo>
                <a:lnTo>
                  <a:pt x="963319" y="1562878"/>
                </a:lnTo>
                <a:lnTo>
                  <a:pt x="963703" y="1562878"/>
                </a:lnTo>
                <a:lnTo>
                  <a:pt x="964159" y="1483410"/>
                </a:lnTo>
                <a:lnTo>
                  <a:pt x="967428" y="1483410"/>
                </a:lnTo>
                <a:lnTo>
                  <a:pt x="969815" y="1337718"/>
                </a:lnTo>
                <a:lnTo>
                  <a:pt x="970119" y="1337718"/>
                </a:lnTo>
                <a:lnTo>
                  <a:pt x="972325" y="1245005"/>
                </a:lnTo>
                <a:lnTo>
                  <a:pt x="974356" y="1245005"/>
                </a:lnTo>
                <a:lnTo>
                  <a:pt x="976698" y="1139047"/>
                </a:lnTo>
                <a:lnTo>
                  <a:pt x="977128" y="1139047"/>
                </a:lnTo>
                <a:lnTo>
                  <a:pt x="979113" y="1086068"/>
                </a:lnTo>
                <a:lnTo>
                  <a:pt x="979948" y="1086068"/>
                </a:lnTo>
                <a:lnTo>
                  <a:pt x="982516" y="966866"/>
                </a:lnTo>
                <a:lnTo>
                  <a:pt x="982628" y="966866"/>
                </a:lnTo>
                <a:lnTo>
                  <a:pt x="984554" y="847663"/>
                </a:lnTo>
                <a:lnTo>
                  <a:pt x="985374" y="847663"/>
                </a:lnTo>
                <a:lnTo>
                  <a:pt x="987604" y="781439"/>
                </a:lnTo>
                <a:lnTo>
                  <a:pt x="990007" y="781439"/>
                </a:lnTo>
                <a:lnTo>
                  <a:pt x="992538" y="582769"/>
                </a:lnTo>
                <a:lnTo>
                  <a:pt x="992833" y="582769"/>
                </a:lnTo>
                <a:lnTo>
                  <a:pt x="994542" y="503300"/>
                </a:lnTo>
                <a:lnTo>
                  <a:pt x="995433" y="503300"/>
                </a:lnTo>
                <a:lnTo>
                  <a:pt x="997018" y="410587"/>
                </a:lnTo>
                <a:lnTo>
                  <a:pt x="998242" y="410587"/>
                </a:lnTo>
                <a:lnTo>
                  <a:pt x="1000669" y="291384"/>
                </a:lnTo>
                <a:lnTo>
                  <a:pt x="1001455" y="291384"/>
                </a:lnTo>
                <a:lnTo>
                  <a:pt x="1003869" y="238406"/>
                </a:lnTo>
                <a:lnTo>
                  <a:pt x="1004498" y="238406"/>
                </a:lnTo>
                <a:lnTo>
                  <a:pt x="1005752" y="211916"/>
                </a:lnTo>
                <a:lnTo>
                  <a:pt x="1008530" y="211916"/>
                </a:lnTo>
                <a:lnTo>
                  <a:pt x="1008530" y="198671"/>
                </a:lnTo>
                <a:lnTo>
                  <a:pt x="1012045" y="198671"/>
                </a:lnTo>
                <a:lnTo>
                  <a:pt x="1013193" y="145693"/>
                </a:lnTo>
                <a:lnTo>
                  <a:pt x="1014654" y="145693"/>
                </a:lnTo>
                <a:lnTo>
                  <a:pt x="1015925" y="66224"/>
                </a:lnTo>
                <a:lnTo>
                  <a:pt x="1019131" y="66224"/>
                </a:lnTo>
                <a:lnTo>
                  <a:pt x="1019131" y="52979"/>
                </a:lnTo>
                <a:lnTo>
                  <a:pt x="1022145" y="52979"/>
                </a:lnTo>
                <a:lnTo>
                  <a:pt x="1024433" y="26490"/>
                </a:lnTo>
                <a:lnTo>
                  <a:pt x="1024781" y="26490"/>
                </a:lnTo>
                <a:lnTo>
                  <a:pt x="1026493" y="0"/>
                </a:lnTo>
              </a:path>
            </a:pathLst>
          </a:custGeom>
          <a:noFill/>
          <a:ln w="30293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path 63"/>
          <p:cNvSpPr/>
          <p:nvPr/>
        </p:nvSpPr>
        <p:spPr>
          <a:xfrm>
            <a:off x="9773937" y="583137"/>
            <a:ext cx="835054" cy="2635702"/>
          </a:xfrm>
          <a:custGeom>
            <a:avLst/>
            <a:gdLst/>
            <a:ahLst/>
            <a:cxnLst/>
            <a:rect l="l" t="t" r="r" b="b"/>
            <a:pathLst>
              <a:path w="835054" h="2635702">
                <a:moveTo>
                  <a:pt x="0" y="2635702"/>
                </a:moveTo>
                <a:lnTo>
                  <a:pt x="4427" y="2635702"/>
                </a:lnTo>
                <a:lnTo>
                  <a:pt x="4427" y="2622457"/>
                </a:lnTo>
                <a:lnTo>
                  <a:pt x="12832" y="2622457"/>
                </a:lnTo>
                <a:lnTo>
                  <a:pt x="12832" y="2609212"/>
                </a:lnTo>
                <a:lnTo>
                  <a:pt x="117435" y="2609212"/>
                </a:lnTo>
                <a:lnTo>
                  <a:pt x="117435" y="2595967"/>
                </a:lnTo>
                <a:lnTo>
                  <a:pt x="123064" y="2595967"/>
                </a:lnTo>
                <a:lnTo>
                  <a:pt x="124327" y="2569478"/>
                </a:lnTo>
                <a:lnTo>
                  <a:pt x="126952" y="2569478"/>
                </a:lnTo>
                <a:lnTo>
                  <a:pt x="126952" y="2556233"/>
                </a:lnTo>
                <a:lnTo>
                  <a:pt x="148891" y="2556233"/>
                </a:lnTo>
                <a:lnTo>
                  <a:pt x="148891" y="2542988"/>
                </a:lnTo>
                <a:lnTo>
                  <a:pt x="171431" y="2542988"/>
                </a:lnTo>
                <a:lnTo>
                  <a:pt x="171431" y="2529744"/>
                </a:lnTo>
                <a:lnTo>
                  <a:pt x="179026" y="2529744"/>
                </a:lnTo>
                <a:lnTo>
                  <a:pt x="179026" y="2516499"/>
                </a:lnTo>
                <a:lnTo>
                  <a:pt x="202760" y="2516499"/>
                </a:lnTo>
                <a:lnTo>
                  <a:pt x="202760" y="2503254"/>
                </a:lnTo>
                <a:lnTo>
                  <a:pt x="213519" y="2503254"/>
                </a:lnTo>
                <a:lnTo>
                  <a:pt x="213519" y="2490009"/>
                </a:lnTo>
                <a:lnTo>
                  <a:pt x="243100" y="2490009"/>
                </a:lnTo>
                <a:lnTo>
                  <a:pt x="243100" y="2476765"/>
                </a:lnTo>
                <a:lnTo>
                  <a:pt x="265732" y="2476765"/>
                </a:lnTo>
                <a:lnTo>
                  <a:pt x="265732" y="2463520"/>
                </a:lnTo>
                <a:lnTo>
                  <a:pt x="351473" y="2463520"/>
                </a:lnTo>
                <a:lnTo>
                  <a:pt x="351473" y="2450275"/>
                </a:lnTo>
                <a:lnTo>
                  <a:pt x="356624" y="2450275"/>
                </a:lnTo>
                <a:lnTo>
                  <a:pt x="356624" y="2437031"/>
                </a:lnTo>
                <a:lnTo>
                  <a:pt x="364103" y="2437031"/>
                </a:lnTo>
                <a:lnTo>
                  <a:pt x="365916" y="2410541"/>
                </a:lnTo>
                <a:lnTo>
                  <a:pt x="413450" y="2410541"/>
                </a:lnTo>
                <a:lnTo>
                  <a:pt x="413450" y="2397296"/>
                </a:lnTo>
                <a:lnTo>
                  <a:pt x="422460" y="2397296"/>
                </a:lnTo>
                <a:lnTo>
                  <a:pt x="422460" y="2384052"/>
                </a:lnTo>
                <a:lnTo>
                  <a:pt x="488997" y="2384052"/>
                </a:lnTo>
                <a:lnTo>
                  <a:pt x="488997" y="2370807"/>
                </a:lnTo>
                <a:lnTo>
                  <a:pt x="504337" y="2370807"/>
                </a:lnTo>
                <a:lnTo>
                  <a:pt x="504337" y="2357562"/>
                </a:lnTo>
                <a:lnTo>
                  <a:pt x="524223" y="2357562"/>
                </a:lnTo>
                <a:lnTo>
                  <a:pt x="524223" y="2344317"/>
                </a:lnTo>
                <a:lnTo>
                  <a:pt x="646180" y="2344317"/>
                </a:lnTo>
                <a:lnTo>
                  <a:pt x="646180" y="2331073"/>
                </a:lnTo>
                <a:lnTo>
                  <a:pt x="658060" y="2331073"/>
                </a:lnTo>
                <a:lnTo>
                  <a:pt x="658060" y="2317828"/>
                </a:lnTo>
                <a:lnTo>
                  <a:pt x="663027" y="2317828"/>
                </a:lnTo>
                <a:lnTo>
                  <a:pt x="663027" y="2304583"/>
                </a:lnTo>
                <a:lnTo>
                  <a:pt x="674925" y="2304583"/>
                </a:lnTo>
                <a:lnTo>
                  <a:pt x="676496" y="2278094"/>
                </a:lnTo>
                <a:lnTo>
                  <a:pt x="686649" y="2278094"/>
                </a:lnTo>
                <a:lnTo>
                  <a:pt x="688441" y="2238360"/>
                </a:lnTo>
                <a:lnTo>
                  <a:pt x="689371" y="2238360"/>
                </a:lnTo>
                <a:lnTo>
                  <a:pt x="689371" y="2225115"/>
                </a:lnTo>
                <a:lnTo>
                  <a:pt x="695129" y="2225115"/>
                </a:lnTo>
                <a:lnTo>
                  <a:pt x="696930" y="2198625"/>
                </a:lnTo>
                <a:lnTo>
                  <a:pt x="704128" y="2198625"/>
                </a:lnTo>
                <a:lnTo>
                  <a:pt x="705736" y="2145646"/>
                </a:lnTo>
                <a:lnTo>
                  <a:pt x="709541" y="2145646"/>
                </a:lnTo>
                <a:lnTo>
                  <a:pt x="712103" y="2079423"/>
                </a:lnTo>
                <a:lnTo>
                  <a:pt x="713053" y="2079423"/>
                </a:lnTo>
                <a:lnTo>
                  <a:pt x="714739" y="2039689"/>
                </a:lnTo>
                <a:lnTo>
                  <a:pt x="718644" y="2039689"/>
                </a:lnTo>
                <a:lnTo>
                  <a:pt x="721218" y="2013199"/>
                </a:lnTo>
                <a:lnTo>
                  <a:pt x="726848" y="2013199"/>
                </a:lnTo>
                <a:lnTo>
                  <a:pt x="729208" y="1946976"/>
                </a:lnTo>
                <a:lnTo>
                  <a:pt x="730427" y="1946976"/>
                </a:lnTo>
                <a:lnTo>
                  <a:pt x="732404" y="1893997"/>
                </a:lnTo>
                <a:lnTo>
                  <a:pt x="733472" y="1893997"/>
                </a:lnTo>
                <a:lnTo>
                  <a:pt x="734470" y="1867507"/>
                </a:lnTo>
                <a:lnTo>
                  <a:pt x="736554" y="1867507"/>
                </a:lnTo>
                <a:lnTo>
                  <a:pt x="738521" y="1774794"/>
                </a:lnTo>
                <a:lnTo>
                  <a:pt x="740991" y="1774794"/>
                </a:lnTo>
                <a:lnTo>
                  <a:pt x="742246" y="1735060"/>
                </a:lnTo>
                <a:lnTo>
                  <a:pt x="743581" y="1735060"/>
                </a:lnTo>
                <a:lnTo>
                  <a:pt x="745514" y="1642347"/>
                </a:lnTo>
                <a:lnTo>
                  <a:pt x="748687" y="1642347"/>
                </a:lnTo>
                <a:lnTo>
                  <a:pt x="750941" y="1549634"/>
                </a:lnTo>
                <a:lnTo>
                  <a:pt x="757171" y="1549634"/>
                </a:lnTo>
                <a:lnTo>
                  <a:pt x="758846" y="1483410"/>
                </a:lnTo>
                <a:lnTo>
                  <a:pt x="759983" y="1483410"/>
                </a:lnTo>
                <a:lnTo>
                  <a:pt x="762235" y="1377452"/>
                </a:lnTo>
                <a:lnTo>
                  <a:pt x="764759" y="1377452"/>
                </a:lnTo>
                <a:lnTo>
                  <a:pt x="765948" y="1311229"/>
                </a:lnTo>
                <a:lnTo>
                  <a:pt x="768968" y="1311229"/>
                </a:lnTo>
                <a:lnTo>
                  <a:pt x="770454" y="1271494"/>
                </a:lnTo>
                <a:lnTo>
                  <a:pt x="771801" y="1271494"/>
                </a:lnTo>
                <a:lnTo>
                  <a:pt x="774267" y="1218516"/>
                </a:lnTo>
                <a:lnTo>
                  <a:pt x="774584" y="1218516"/>
                </a:lnTo>
                <a:lnTo>
                  <a:pt x="776482" y="1165537"/>
                </a:lnTo>
                <a:lnTo>
                  <a:pt x="777197" y="1165537"/>
                </a:lnTo>
                <a:lnTo>
                  <a:pt x="779294" y="1125802"/>
                </a:lnTo>
                <a:lnTo>
                  <a:pt x="780487" y="1125802"/>
                </a:lnTo>
                <a:lnTo>
                  <a:pt x="781869" y="1099313"/>
                </a:lnTo>
                <a:lnTo>
                  <a:pt x="783225" y="1099313"/>
                </a:lnTo>
                <a:lnTo>
                  <a:pt x="785710" y="1046334"/>
                </a:lnTo>
                <a:lnTo>
                  <a:pt x="786581" y="1046334"/>
                </a:lnTo>
                <a:lnTo>
                  <a:pt x="787086" y="993355"/>
                </a:lnTo>
                <a:lnTo>
                  <a:pt x="789308" y="993355"/>
                </a:lnTo>
                <a:lnTo>
                  <a:pt x="791522" y="940376"/>
                </a:lnTo>
                <a:lnTo>
                  <a:pt x="792142" y="940376"/>
                </a:lnTo>
                <a:lnTo>
                  <a:pt x="794010" y="860908"/>
                </a:lnTo>
                <a:lnTo>
                  <a:pt x="796003" y="860908"/>
                </a:lnTo>
                <a:lnTo>
                  <a:pt x="797110" y="821174"/>
                </a:lnTo>
                <a:lnTo>
                  <a:pt x="798959" y="821174"/>
                </a:lnTo>
                <a:lnTo>
                  <a:pt x="801511" y="701971"/>
                </a:lnTo>
                <a:lnTo>
                  <a:pt x="801911" y="701971"/>
                </a:lnTo>
                <a:lnTo>
                  <a:pt x="803748" y="635748"/>
                </a:lnTo>
                <a:lnTo>
                  <a:pt x="805823" y="635748"/>
                </a:lnTo>
                <a:lnTo>
                  <a:pt x="807832" y="569524"/>
                </a:lnTo>
                <a:lnTo>
                  <a:pt x="810120" y="569524"/>
                </a:lnTo>
                <a:lnTo>
                  <a:pt x="812313" y="450321"/>
                </a:lnTo>
                <a:lnTo>
                  <a:pt x="813088" y="450321"/>
                </a:lnTo>
                <a:lnTo>
                  <a:pt x="815598" y="344363"/>
                </a:lnTo>
                <a:lnTo>
                  <a:pt x="816746" y="344363"/>
                </a:lnTo>
                <a:lnTo>
                  <a:pt x="818563" y="211916"/>
                </a:lnTo>
                <a:lnTo>
                  <a:pt x="819859" y="211916"/>
                </a:lnTo>
                <a:lnTo>
                  <a:pt x="822432" y="119203"/>
                </a:lnTo>
                <a:lnTo>
                  <a:pt x="823000" y="119203"/>
                </a:lnTo>
                <a:lnTo>
                  <a:pt x="824819" y="39735"/>
                </a:lnTo>
                <a:lnTo>
                  <a:pt x="826137" y="39735"/>
                </a:lnTo>
                <a:lnTo>
                  <a:pt x="826137" y="26490"/>
                </a:lnTo>
                <a:lnTo>
                  <a:pt x="830323" y="26490"/>
                </a:lnTo>
                <a:lnTo>
                  <a:pt x="830323" y="13245"/>
                </a:lnTo>
                <a:lnTo>
                  <a:pt x="835054" y="13245"/>
                </a:lnTo>
                <a:lnTo>
                  <a:pt x="835054" y="0"/>
                </a:lnTo>
              </a:path>
            </a:pathLst>
          </a:custGeom>
          <a:noFill/>
          <a:ln w="30293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64"/>
          <p:cNvSpPr/>
          <p:nvPr/>
        </p:nvSpPr>
        <p:spPr>
          <a:xfrm>
            <a:off x="11667259" y="450690"/>
            <a:ext cx="0" cy="2781393"/>
          </a:xfrm>
          <a:custGeom>
            <a:avLst/>
            <a:gdLst/>
            <a:ahLst/>
            <a:cxnLst/>
            <a:rect l="l" t="t" r="r" b="b"/>
            <a:pathLst>
              <a:path w="0" h="2781393">
                <a:moveTo>
                  <a:pt x="0" y="2781393"/>
                </a:moveTo>
                <a:lnTo>
                  <a:pt x="0" y="0"/>
                </a:lnTo>
              </a:path>
            </a:pathLst>
          </a:custGeom>
          <a:noFill/>
          <a:ln w="18642">
            <a:solidFill>
              <a:srgbClr val="B45B5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path 65"/>
          <p:cNvSpPr/>
          <p:nvPr/>
        </p:nvSpPr>
        <p:spPr>
          <a:xfrm>
            <a:off x="8811579" y="450690"/>
            <a:ext cx="0" cy="2781393"/>
          </a:xfrm>
          <a:custGeom>
            <a:avLst/>
            <a:gdLst/>
            <a:ahLst/>
            <a:cxnLst/>
            <a:rect l="l" t="t" r="r" b="b"/>
            <a:pathLst>
              <a:path w="0" h="2781393">
                <a:moveTo>
                  <a:pt x="0" y="2781393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path 66"/>
          <p:cNvSpPr/>
          <p:nvPr/>
        </p:nvSpPr>
        <p:spPr>
          <a:xfrm>
            <a:off x="8811579" y="3232083"/>
            <a:ext cx="3212640" cy="0"/>
          </a:xfrm>
          <a:custGeom>
            <a:avLst/>
            <a:gdLst/>
            <a:ahLst/>
            <a:cxnLst/>
            <a:rect l="l" t="t" r="r" b="b"/>
            <a:pathLst>
              <a:path w="3212640" h="0">
                <a:moveTo>
                  <a:pt x="0" y="0"/>
                </a:moveTo>
                <a:lnTo>
                  <a:pt x="321264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03553" y="148715"/>
            <a:ext cx="2276855" cy="237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9" b="0" i="0">
                <a:solidFill>
                  <a:srgbClr val="2B2B2B"/>
                </a:solidFill>
                <a:latin typeface="Times New Roman"/>
              </a:rPr>
              <a:t>(c) Retained target accuracy</a:t>
            </a:r>
          </a:p>
        </p:txBody>
      </p:sp>
      <p:sp>
        <p:nvSpPr>
          <p:cNvPr id="115" name="Editable path 67"/>
          <p:cNvSpPr/>
          <p:nvPr/>
        </p:nvSpPr>
        <p:spPr>
          <a:xfrm>
            <a:off x="10858061" y="2828727"/>
            <a:ext cx="279633" cy="0"/>
          </a:xfrm>
          <a:custGeom>
            <a:avLst/>
            <a:gdLst/>
            <a:ahLst/>
            <a:cxnLst/>
            <a:rect l="l" t="t" r="r" b="b"/>
            <a:pathLst>
              <a:path w="279633" h="0">
                <a:moveTo>
                  <a:pt x="0" y="0"/>
                </a:moveTo>
                <a:lnTo>
                  <a:pt x="139817" y="0"/>
                </a:lnTo>
                <a:lnTo>
                  <a:pt x="279633" y="0"/>
                </a:lnTo>
              </a:path>
            </a:pathLst>
          </a:custGeom>
          <a:noFill/>
          <a:ln w="30293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249547" y="2763198"/>
            <a:ext cx="407705" cy="167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Object</a:t>
            </a:r>
          </a:p>
        </p:txBody>
      </p:sp>
      <p:sp>
        <p:nvSpPr>
          <p:cNvPr id="117" name="Editable path 68"/>
          <p:cNvSpPr/>
          <p:nvPr/>
        </p:nvSpPr>
        <p:spPr>
          <a:xfrm>
            <a:off x="10858061" y="3027092"/>
            <a:ext cx="279633" cy="0"/>
          </a:xfrm>
          <a:custGeom>
            <a:avLst/>
            <a:gdLst/>
            <a:ahLst/>
            <a:cxnLst/>
            <a:rect l="l" t="t" r="r" b="b"/>
            <a:pathLst>
              <a:path w="279633" h="0">
                <a:moveTo>
                  <a:pt x="0" y="0"/>
                </a:moveTo>
                <a:lnTo>
                  <a:pt x="139817" y="0"/>
                </a:lnTo>
                <a:lnTo>
                  <a:pt x="279633" y="0"/>
                </a:lnTo>
              </a:path>
            </a:pathLst>
          </a:custGeom>
          <a:noFill/>
          <a:ln w="30293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49547" y="2961563"/>
            <a:ext cx="683423" cy="167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Worst hand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