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8201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iros_08_reliability.pdf.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082014"/>
          </a:xfrm>
          <a:custGeom>
            <a:avLst/>
            <a:gdLst/>
            <a:ahLst/>
            <a:cxnLst/>
            <a:rect l="l" t="t" r="r" b="b"/>
            <a:pathLst>
              <a:path w="12191999" h="6082014">
                <a:moveTo>
                  <a:pt x="0" y="0"/>
                </a:moveTo>
                <a:lnTo>
                  <a:pt x="12191999" y="0"/>
                </a:lnTo>
                <a:lnTo>
                  <a:pt x="12191999" y="6082014"/>
                </a:lnTo>
                <a:lnTo>
                  <a:pt x="0" y="60820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535578" y="959174"/>
            <a:ext cx="3646414" cy="3647471"/>
          </a:xfrm>
          <a:custGeom>
            <a:avLst/>
            <a:gdLst/>
            <a:ahLst/>
            <a:cxnLst/>
            <a:rect l="l" t="t" r="r" b="b"/>
            <a:pathLst>
              <a:path w="3646414" h="3647471">
                <a:moveTo>
                  <a:pt x="0" y="0"/>
                </a:moveTo>
                <a:lnTo>
                  <a:pt x="3646414" y="0"/>
                </a:lnTo>
                <a:lnTo>
                  <a:pt x="3646414" y="3647471"/>
                </a:lnTo>
                <a:lnTo>
                  <a:pt x="0" y="36474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535578" y="959174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535578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5665" y="4763376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3271966" y="959174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3271966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2140" y="4763376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5008353" y="959174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5008353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528" y="4763376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2732" y="5285676"/>
            <a:ext cx="3356872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Missions remaining</a:t>
            </a:r>
          </a:p>
        </p:txBody>
      </p:sp>
      <p:sp>
        <p:nvSpPr>
          <p:cNvPr id="14" name="Editable path 9"/>
          <p:cNvSpPr/>
          <p:nvPr/>
        </p:nvSpPr>
        <p:spPr>
          <a:xfrm>
            <a:off x="1432821" y="1406506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99" y="1234895"/>
            <a:ext cx="769291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Start</a:t>
            </a:r>
          </a:p>
        </p:txBody>
      </p:sp>
      <p:sp>
        <p:nvSpPr>
          <p:cNvPr id="16" name="Editable path 10"/>
          <p:cNvSpPr/>
          <p:nvPr/>
        </p:nvSpPr>
        <p:spPr>
          <a:xfrm>
            <a:off x="1432821" y="2094708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925" y="1923098"/>
            <a:ext cx="1048740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Attach</a:t>
            </a:r>
          </a:p>
        </p:txBody>
      </p:sp>
      <p:sp>
        <p:nvSpPr>
          <p:cNvPr id="18" name="Editable path 11"/>
          <p:cNvSpPr/>
          <p:nvPr/>
        </p:nvSpPr>
        <p:spPr>
          <a:xfrm>
            <a:off x="1432821" y="2782910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785" y="2611299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Lift</a:t>
            </a:r>
          </a:p>
        </p:txBody>
      </p:sp>
      <p:sp>
        <p:nvSpPr>
          <p:cNvPr id="20" name="Editable path 12"/>
          <p:cNvSpPr/>
          <p:nvPr/>
        </p:nvSpPr>
        <p:spPr>
          <a:xfrm>
            <a:off x="1432821" y="3471112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36" y="3299501"/>
            <a:ext cx="729730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Plan</a:t>
            </a:r>
          </a:p>
        </p:txBody>
      </p:sp>
      <p:sp>
        <p:nvSpPr>
          <p:cNvPr id="22" name="Editable path 13"/>
          <p:cNvSpPr/>
          <p:nvPr/>
        </p:nvSpPr>
        <p:spPr>
          <a:xfrm>
            <a:off x="1432821" y="4159313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30" y="3987703"/>
            <a:ext cx="78907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Goal</a:t>
            </a:r>
          </a:p>
        </p:txBody>
      </p:sp>
      <p:sp>
        <p:nvSpPr>
          <p:cNvPr id="24" name="Editable path 14"/>
          <p:cNvSpPr/>
          <p:nvPr/>
        </p:nvSpPr>
        <p:spPr>
          <a:xfrm>
            <a:off x="1535578" y="959174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5"/>
          <p:cNvSpPr/>
          <p:nvPr/>
        </p:nvSpPr>
        <p:spPr>
          <a:xfrm>
            <a:off x="1535578" y="4606645"/>
            <a:ext cx="3646414" cy="0"/>
          </a:xfrm>
          <a:custGeom>
            <a:avLst/>
            <a:gdLst/>
            <a:ahLst/>
            <a:cxnLst/>
            <a:rect l="l" t="t" r="r" b="b"/>
            <a:pathLst>
              <a:path w="3646414" h="0">
                <a:moveTo>
                  <a:pt x="0" y="0"/>
                </a:moveTo>
                <a:lnTo>
                  <a:pt x="3646414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6"/>
          <p:cNvSpPr/>
          <p:nvPr/>
        </p:nvSpPr>
        <p:spPr>
          <a:xfrm>
            <a:off x="1535578" y="1217250"/>
            <a:ext cx="3472775" cy="378511"/>
          </a:xfrm>
          <a:custGeom>
            <a:avLst/>
            <a:gdLst/>
            <a:ahLst/>
            <a:cxnLst/>
            <a:rect l="l" t="t" r="r" b="b"/>
            <a:pathLst>
              <a:path w="3472775" h="378511">
                <a:moveTo>
                  <a:pt x="0" y="0"/>
                </a:moveTo>
                <a:lnTo>
                  <a:pt x="3472775" y="0"/>
                </a:lnTo>
                <a:lnTo>
                  <a:pt x="3472775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7"/>
          <p:cNvSpPr/>
          <p:nvPr/>
        </p:nvSpPr>
        <p:spPr>
          <a:xfrm>
            <a:off x="1535578" y="1905452"/>
            <a:ext cx="3212317" cy="378511"/>
          </a:xfrm>
          <a:custGeom>
            <a:avLst/>
            <a:gdLst/>
            <a:ahLst/>
            <a:cxnLst/>
            <a:rect l="l" t="t" r="r" b="b"/>
            <a:pathLst>
              <a:path w="3212317" h="378511">
                <a:moveTo>
                  <a:pt x="0" y="0"/>
                </a:moveTo>
                <a:lnTo>
                  <a:pt x="3212317" y="0"/>
                </a:lnTo>
                <a:lnTo>
                  <a:pt x="3212317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8"/>
          <p:cNvSpPr/>
          <p:nvPr/>
        </p:nvSpPr>
        <p:spPr>
          <a:xfrm>
            <a:off x="1535578" y="2593654"/>
            <a:ext cx="3125498" cy="378511"/>
          </a:xfrm>
          <a:custGeom>
            <a:avLst/>
            <a:gdLst/>
            <a:ahLst/>
            <a:cxnLst/>
            <a:rect l="l" t="t" r="r" b="b"/>
            <a:pathLst>
              <a:path w="3125498" h="378511">
                <a:moveTo>
                  <a:pt x="0" y="0"/>
                </a:moveTo>
                <a:lnTo>
                  <a:pt x="3125498" y="0"/>
                </a:lnTo>
                <a:lnTo>
                  <a:pt x="312549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9"/>
          <p:cNvSpPr/>
          <p:nvPr/>
        </p:nvSpPr>
        <p:spPr>
          <a:xfrm>
            <a:off x="1535578" y="3281856"/>
            <a:ext cx="3038678" cy="378511"/>
          </a:xfrm>
          <a:custGeom>
            <a:avLst/>
            <a:gdLst/>
            <a:ahLst/>
            <a:cxnLst/>
            <a:rect l="l" t="t" r="r" b="b"/>
            <a:pathLst>
              <a:path w="3038678" h="378511">
                <a:moveTo>
                  <a:pt x="0" y="0"/>
                </a:moveTo>
                <a:lnTo>
                  <a:pt x="3038678" y="0"/>
                </a:lnTo>
                <a:lnTo>
                  <a:pt x="303867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1535578" y="3970058"/>
            <a:ext cx="3038678" cy="378511"/>
          </a:xfrm>
          <a:custGeom>
            <a:avLst/>
            <a:gdLst/>
            <a:ahLst/>
            <a:cxnLst/>
            <a:rect l="l" t="t" r="r" b="b"/>
            <a:pathLst>
              <a:path w="3038678" h="378511">
                <a:moveTo>
                  <a:pt x="0" y="0"/>
                </a:moveTo>
                <a:lnTo>
                  <a:pt x="3038678" y="0"/>
                </a:lnTo>
                <a:lnTo>
                  <a:pt x="303867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2397" y="1195960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2397" y="1884162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2397" y="2572364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2397" y="3260566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2397" y="3948768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3743" y="314403"/>
            <a:ext cx="2773623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(a) Failure stage</a:t>
            </a:r>
          </a:p>
        </p:txBody>
      </p:sp>
      <p:sp>
        <p:nvSpPr>
          <p:cNvPr id="37" name="Editable path 21"/>
          <p:cNvSpPr/>
          <p:nvPr/>
        </p:nvSpPr>
        <p:spPr>
          <a:xfrm>
            <a:off x="7670669" y="959174"/>
            <a:ext cx="4011055" cy="3647471"/>
          </a:xfrm>
          <a:custGeom>
            <a:avLst/>
            <a:gdLst/>
            <a:ahLst/>
            <a:cxnLst/>
            <a:rect l="l" t="t" r="r" b="b"/>
            <a:pathLst>
              <a:path w="4011055" h="3647471">
                <a:moveTo>
                  <a:pt x="0" y="0"/>
                </a:moveTo>
                <a:lnTo>
                  <a:pt x="4011055" y="0"/>
                </a:lnTo>
                <a:lnTo>
                  <a:pt x="4011055" y="3647471"/>
                </a:lnTo>
                <a:lnTo>
                  <a:pt x="0" y="36474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2"/>
          <p:cNvSpPr/>
          <p:nvPr/>
        </p:nvSpPr>
        <p:spPr>
          <a:xfrm>
            <a:off x="7670669" y="959174"/>
            <a:ext cx="4011055" cy="3647471"/>
          </a:xfrm>
          <a:custGeom>
            <a:avLst/>
            <a:gdLst/>
            <a:ahLst/>
            <a:cxnLst/>
            <a:rect l="l" t="t" r="r" b="b"/>
            <a:pathLst>
              <a:path w="4011055" h="3647471">
                <a:moveTo>
                  <a:pt x="0" y="3647471"/>
                </a:moveTo>
                <a:lnTo>
                  <a:pt x="4011055" y="0"/>
                </a:lnTo>
              </a:path>
            </a:pathLst>
          </a:custGeom>
          <a:noFill/>
          <a:ln w="3596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3"/>
          <p:cNvSpPr/>
          <p:nvPr/>
        </p:nvSpPr>
        <p:spPr>
          <a:xfrm>
            <a:off x="7670669" y="4136003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24"/>
          <p:cNvSpPr/>
          <p:nvPr/>
        </p:nvSpPr>
        <p:spPr>
          <a:xfrm>
            <a:off x="7670669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0756" y="4763376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2" name="Editable path 25"/>
          <p:cNvSpPr/>
          <p:nvPr/>
        </p:nvSpPr>
        <p:spPr>
          <a:xfrm>
            <a:off x="9611502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1676" y="4763376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75</a:t>
            </a:r>
          </a:p>
        </p:txBody>
      </p:sp>
      <p:sp>
        <p:nvSpPr>
          <p:cNvPr id="44" name="Editable path 26"/>
          <p:cNvSpPr/>
          <p:nvPr/>
        </p:nvSpPr>
        <p:spPr>
          <a:xfrm>
            <a:off x="11552335" y="4606645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82596" y="4763376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860" y="5285676"/>
            <a:ext cx="3288641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Planned min. (mm)</a:t>
            </a:r>
          </a:p>
        </p:txBody>
      </p:sp>
      <p:sp>
        <p:nvSpPr>
          <p:cNvPr id="47" name="Editable path 27"/>
          <p:cNvSpPr/>
          <p:nvPr/>
        </p:nvSpPr>
        <p:spPr>
          <a:xfrm>
            <a:off x="7670669" y="4606645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28"/>
          <p:cNvSpPr/>
          <p:nvPr/>
        </p:nvSpPr>
        <p:spPr>
          <a:xfrm>
            <a:off x="7567912" y="4606645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5328" y="4435035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50" name="Editable path 29"/>
          <p:cNvSpPr/>
          <p:nvPr/>
        </p:nvSpPr>
        <p:spPr>
          <a:xfrm>
            <a:off x="7670669" y="2841740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0"/>
          <p:cNvSpPr/>
          <p:nvPr/>
        </p:nvSpPr>
        <p:spPr>
          <a:xfrm>
            <a:off x="7567912" y="2841740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05503" y="2670129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75</a:t>
            </a:r>
          </a:p>
        </p:txBody>
      </p:sp>
      <p:sp>
        <p:nvSpPr>
          <p:cNvPr id="53" name="Editable path 31"/>
          <p:cNvSpPr/>
          <p:nvPr/>
        </p:nvSpPr>
        <p:spPr>
          <a:xfrm>
            <a:off x="7670669" y="1076835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2"/>
          <p:cNvSpPr/>
          <p:nvPr/>
        </p:nvSpPr>
        <p:spPr>
          <a:xfrm>
            <a:off x="7567912" y="1076835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5678" y="905225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4808480" y="2527609"/>
            <a:ext cx="3584583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Measured min. (mm)</a:t>
            </a:r>
          </a:p>
        </p:txBody>
      </p:sp>
      <p:sp>
        <p:nvSpPr>
          <p:cNvPr id="57" name="Editable path 33"/>
          <p:cNvSpPr/>
          <p:nvPr/>
        </p:nvSpPr>
        <p:spPr>
          <a:xfrm>
            <a:off x="7670669" y="959174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4"/>
          <p:cNvSpPr/>
          <p:nvPr/>
        </p:nvSpPr>
        <p:spPr>
          <a:xfrm>
            <a:off x="7670669" y="4606645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35"/>
          <p:cNvSpPr/>
          <p:nvPr/>
        </p:nvSpPr>
        <p:spPr>
          <a:xfrm>
            <a:off x="8276744" y="3887488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36"/>
          <p:cNvSpPr/>
          <p:nvPr/>
        </p:nvSpPr>
        <p:spPr>
          <a:xfrm>
            <a:off x="8204286" y="3940957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37"/>
          <p:cNvSpPr/>
          <p:nvPr/>
        </p:nvSpPr>
        <p:spPr>
          <a:xfrm>
            <a:off x="8369904" y="3801744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4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38"/>
          <p:cNvSpPr/>
          <p:nvPr/>
        </p:nvSpPr>
        <p:spPr>
          <a:xfrm>
            <a:off x="9019436" y="3341609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9"/>
          <p:cNvSpPr/>
          <p:nvPr/>
        </p:nvSpPr>
        <p:spPr>
          <a:xfrm>
            <a:off x="8152531" y="4035460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0"/>
          <p:cNvSpPr/>
          <p:nvPr/>
        </p:nvSpPr>
        <p:spPr>
          <a:xfrm>
            <a:off x="8287096" y="4044522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29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1"/>
          <p:cNvSpPr/>
          <p:nvPr/>
        </p:nvSpPr>
        <p:spPr>
          <a:xfrm>
            <a:off x="8737369" y="3475080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2"/>
          <p:cNvSpPr/>
          <p:nvPr/>
        </p:nvSpPr>
        <p:spPr>
          <a:xfrm>
            <a:off x="8149943" y="3972623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69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1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3"/>
          <p:cNvSpPr/>
          <p:nvPr/>
        </p:nvSpPr>
        <p:spPr>
          <a:xfrm>
            <a:off x="8802063" y="3184264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4"/>
                </a:lnTo>
                <a:lnTo>
                  <a:pt x="122433" y="180320"/>
                </a:lnTo>
                <a:lnTo>
                  <a:pt x="128071" y="178197"/>
                </a:lnTo>
                <a:lnTo>
                  <a:pt x="133559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7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6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6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7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9" y="9536"/>
                </a:lnTo>
                <a:lnTo>
                  <a:pt x="128071" y="7051"/>
                </a:lnTo>
                <a:lnTo>
                  <a:pt x="122433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2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2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4"/>
          <p:cNvSpPr/>
          <p:nvPr/>
        </p:nvSpPr>
        <p:spPr>
          <a:xfrm>
            <a:off x="8382844" y="4033552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5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8" y="172872"/>
                </a:lnTo>
                <a:lnTo>
                  <a:pt x="144012" y="169685"/>
                </a:lnTo>
                <a:lnTo>
                  <a:pt x="148942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1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7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6"/>
                </a:lnTo>
                <a:lnTo>
                  <a:pt x="184445" y="80449"/>
                </a:lnTo>
                <a:lnTo>
                  <a:pt x="183452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0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8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5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69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1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0"/>
                </a:lnTo>
                <a:lnTo>
                  <a:pt x="27129" y="158119"/>
                </a:lnTo>
                <a:lnTo>
                  <a:pt x="31597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0" y="175711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5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5"/>
          <p:cNvSpPr/>
          <p:nvPr/>
        </p:nvSpPr>
        <p:spPr>
          <a:xfrm>
            <a:off x="8551049" y="3814447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9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7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6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6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0"/>
                </a:lnTo>
                <a:lnTo>
                  <a:pt x="169687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9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1"/>
                </a:lnTo>
                <a:lnTo>
                  <a:pt x="7052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2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6"/>
          <p:cNvSpPr/>
          <p:nvPr/>
        </p:nvSpPr>
        <p:spPr>
          <a:xfrm>
            <a:off x="8429424" y="3943943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7"/>
          <p:cNvSpPr/>
          <p:nvPr/>
        </p:nvSpPr>
        <p:spPr>
          <a:xfrm>
            <a:off x="11361376" y="1398199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5" y="185249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2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8"/>
          <p:cNvSpPr/>
          <p:nvPr/>
        </p:nvSpPr>
        <p:spPr>
          <a:xfrm>
            <a:off x="11084484" y="1323117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4" y="185249"/>
                </a:moveTo>
                <a:lnTo>
                  <a:pt x="98742" y="185047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3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7" y="98742"/>
                </a:lnTo>
                <a:lnTo>
                  <a:pt x="185249" y="92625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1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1"/>
                </a:lnTo>
                <a:lnTo>
                  <a:pt x="172873" y="46371"/>
                </a:lnTo>
                <a:lnTo>
                  <a:pt x="169686" y="41237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50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29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7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6" y="74471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5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29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1" y="175713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7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9"/>
          <p:cNvSpPr/>
          <p:nvPr/>
        </p:nvSpPr>
        <p:spPr>
          <a:xfrm>
            <a:off x="8952156" y="3439675"/>
            <a:ext cx="185248" cy="185247"/>
          </a:xfrm>
          <a:custGeom>
            <a:avLst/>
            <a:gdLst/>
            <a:ahLst/>
            <a:cxnLst/>
            <a:rect l="l" t="t" r="r" b="b"/>
            <a:pathLst>
              <a:path w="185248" h="185247">
                <a:moveTo>
                  <a:pt x="92624" y="185247"/>
                </a:moveTo>
                <a:lnTo>
                  <a:pt x="98741" y="185045"/>
                </a:lnTo>
                <a:lnTo>
                  <a:pt x="104798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8" y="172872"/>
                </a:lnTo>
                <a:lnTo>
                  <a:pt x="144012" y="169685"/>
                </a:lnTo>
                <a:lnTo>
                  <a:pt x="148942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1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7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6"/>
                </a:lnTo>
                <a:lnTo>
                  <a:pt x="184445" y="80449"/>
                </a:lnTo>
                <a:lnTo>
                  <a:pt x="183452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0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8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5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69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1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0"/>
                </a:lnTo>
                <a:lnTo>
                  <a:pt x="27129" y="158119"/>
                </a:lnTo>
                <a:lnTo>
                  <a:pt x="31597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0" y="175711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5"/>
                </a:lnTo>
                <a:lnTo>
                  <a:pt x="92624" y="185247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0"/>
          <p:cNvSpPr/>
          <p:nvPr/>
        </p:nvSpPr>
        <p:spPr>
          <a:xfrm>
            <a:off x="8419073" y="3911885"/>
            <a:ext cx="185249" cy="185247"/>
          </a:xfrm>
          <a:custGeom>
            <a:avLst/>
            <a:gdLst/>
            <a:ahLst/>
            <a:cxnLst/>
            <a:rect l="l" t="t" r="r" b="b"/>
            <a:pathLst>
              <a:path w="185249" h="185247">
                <a:moveTo>
                  <a:pt x="92625" y="185247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3" y="180320"/>
                </a:lnTo>
                <a:lnTo>
                  <a:pt x="128070" y="178197"/>
                </a:lnTo>
                <a:lnTo>
                  <a:pt x="133559" y="175711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7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6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3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69"/>
                </a:lnTo>
                <a:lnTo>
                  <a:pt x="182076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7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9" y="9536"/>
                </a:lnTo>
                <a:lnTo>
                  <a:pt x="128070" y="7050"/>
                </a:lnTo>
                <a:lnTo>
                  <a:pt x="122433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2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69"/>
                </a:lnTo>
                <a:lnTo>
                  <a:pt x="804" y="80449"/>
                </a:lnTo>
                <a:lnTo>
                  <a:pt x="203" y="86506"/>
                </a:lnTo>
                <a:lnTo>
                  <a:pt x="0" y="92623"/>
                </a:lnTo>
                <a:lnTo>
                  <a:pt x="203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2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1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8" y="185045"/>
                </a:lnTo>
                <a:lnTo>
                  <a:pt x="92625" y="185247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1"/>
          <p:cNvSpPr/>
          <p:nvPr/>
        </p:nvSpPr>
        <p:spPr>
          <a:xfrm>
            <a:off x="9241987" y="3004155"/>
            <a:ext cx="185248" cy="185249"/>
          </a:xfrm>
          <a:custGeom>
            <a:avLst/>
            <a:gdLst/>
            <a:ahLst/>
            <a:cxnLst/>
            <a:rect l="l" t="t" r="r" b="b"/>
            <a:pathLst>
              <a:path w="185248" h="185249">
                <a:moveTo>
                  <a:pt x="92624" y="185249"/>
                </a:moveTo>
                <a:lnTo>
                  <a:pt x="98741" y="185046"/>
                </a:lnTo>
                <a:lnTo>
                  <a:pt x="104798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6" y="98742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7" y="57179"/>
                </a:lnTo>
                <a:lnTo>
                  <a:pt x="175712" y="51691"/>
                </a:lnTo>
                <a:lnTo>
                  <a:pt x="172872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1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2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8" y="804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7" y="22947"/>
                </a:lnTo>
                <a:lnTo>
                  <a:pt x="27129" y="27129"/>
                </a:lnTo>
                <a:lnTo>
                  <a:pt x="22946" y="31598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7" y="62817"/>
                </a:lnTo>
                <a:lnTo>
                  <a:pt x="3173" y="68587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3"/>
                </a:lnTo>
                <a:lnTo>
                  <a:pt x="19088" y="148943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0" y="175712"/>
                </a:lnTo>
                <a:lnTo>
                  <a:pt x="57178" y="178198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2"/>
          <p:cNvSpPr/>
          <p:nvPr/>
        </p:nvSpPr>
        <p:spPr>
          <a:xfrm>
            <a:off x="11203522" y="1270804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4" y="185249"/>
                </a:moveTo>
                <a:lnTo>
                  <a:pt x="98742" y="185047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3"/>
                </a:lnTo>
                <a:lnTo>
                  <a:pt x="138878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7" y="98742"/>
                </a:lnTo>
                <a:lnTo>
                  <a:pt x="185249" y="92625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1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8" y="12376"/>
                </a:lnTo>
                <a:lnTo>
                  <a:pt x="133558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50" y="804"/>
                </a:lnTo>
                <a:lnTo>
                  <a:pt x="74470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6" y="74471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5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1" y="175713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7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3"/>
          <p:cNvSpPr/>
          <p:nvPr/>
        </p:nvSpPr>
        <p:spPr>
          <a:xfrm>
            <a:off x="9006499" y="3216989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4"/>
          <p:cNvSpPr/>
          <p:nvPr/>
        </p:nvSpPr>
        <p:spPr>
          <a:xfrm>
            <a:off x="9280804" y="2963442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8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1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6" y="31597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5"/>
          <p:cNvSpPr/>
          <p:nvPr/>
        </p:nvSpPr>
        <p:spPr>
          <a:xfrm>
            <a:off x="8843469" y="3415458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69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69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6"/>
          <p:cNvSpPr/>
          <p:nvPr/>
        </p:nvSpPr>
        <p:spPr>
          <a:xfrm>
            <a:off x="8256043" y="3917208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9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9"/>
                </a:lnTo>
                <a:lnTo>
                  <a:pt x="184446" y="104799"/>
                </a:lnTo>
                <a:lnTo>
                  <a:pt x="185047" y="98742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20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9" y="12376"/>
                </a:lnTo>
                <a:lnTo>
                  <a:pt x="133559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5" y="0"/>
                </a:lnTo>
                <a:lnTo>
                  <a:pt x="86508" y="203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1" y="12376"/>
                </a:lnTo>
                <a:lnTo>
                  <a:pt x="41237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2"/>
                </a:lnTo>
                <a:lnTo>
                  <a:pt x="804" y="104799"/>
                </a:lnTo>
                <a:lnTo>
                  <a:pt x="1797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7"/>
          <p:cNvSpPr/>
          <p:nvPr/>
        </p:nvSpPr>
        <p:spPr>
          <a:xfrm>
            <a:off x="8263807" y="3890066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8"/>
          <p:cNvSpPr/>
          <p:nvPr/>
        </p:nvSpPr>
        <p:spPr>
          <a:xfrm>
            <a:off x="8333677" y="3960556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8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9"/>
          <p:cNvSpPr/>
          <p:nvPr/>
        </p:nvSpPr>
        <p:spPr>
          <a:xfrm>
            <a:off x="8688203" y="3726506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2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29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0"/>
          <p:cNvSpPr/>
          <p:nvPr/>
        </p:nvSpPr>
        <p:spPr>
          <a:xfrm>
            <a:off x="8214639" y="3960121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1"/>
          <p:cNvSpPr/>
          <p:nvPr/>
        </p:nvSpPr>
        <p:spPr>
          <a:xfrm>
            <a:off x="8325914" y="3831643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2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7" y="57179"/>
                </a:lnTo>
                <a:lnTo>
                  <a:pt x="175712" y="51691"/>
                </a:lnTo>
                <a:lnTo>
                  <a:pt x="172872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2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9" y="804"/>
                </a:lnTo>
                <a:lnTo>
                  <a:pt x="98741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49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7" y="22947"/>
                </a:lnTo>
                <a:lnTo>
                  <a:pt x="27129" y="27129"/>
                </a:lnTo>
                <a:lnTo>
                  <a:pt x="22946" y="31598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7" y="62817"/>
                </a:lnTo>
                <a:lnTo>
                  <a:pt x="3173" y="68587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3"/>
                </a:lnTo>
                <a:lnTo>
                  <a:pt x="19088" y="148943"/>
                </a:lnTo>
                <a:lnTo>
                  <a:pt x="22946" y="153651"/>
                </a:lnTo>
                <a:lnTo>
                  <a:pt x="27129" y="158120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0" y="175712"/>
                </a:lnTo>
                <a:lnTo>
                  <a:pt x="57178" y="178198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2"/>
          <p:cNvSpPr/>
          <p:nvPr/>
        </p:nvSpPr>
        <p:spPr>
          <a:xfrm>
            <a:off x="8351791" y="3978505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3"/>
          <p:cNvSpPr/>
          <p:nvPr/>
        </p:nvSpPr>
        <p:spPr>
          <a:xfrm>
            <a:off x="8214639" y="4038519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8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4"/>
          <p:cNvSpPr/>
          <p:nvPr/>
        </p:nvSpPr>
        <p:spPr>
          <a:xfrm>
            <a:off x="8227577" y="3992105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5"/>
          <p:cNvSpPr/>
          <p:nvPr/>
        </p:nvSpPr>
        <p:spPr>
          <a:xfrm>
            <a:off x="8494119" y="3826712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7" y="31597"/>
                </a:lnTo>
                <a:lnTo>
                  <a:pt x="19088" y="36305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91000" y="1032434"/>
            <a:ext cx="2686423" cy="413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0" b="0" i="0">
                <a:solidFill>
                  <a:srgbClr val="2B2B2B"/>
                </a:solidFill>
                <a:latin typeface="Times New Roman"/>
              </a:rPr>
              <a:t>31 doorway passes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84366" y="314403"/>
            <a:ext cx="3686108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(b) Clearance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